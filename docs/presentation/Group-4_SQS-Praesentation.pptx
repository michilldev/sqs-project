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43"/>
  </p:notesMasterIdLst>
  <p:sldIdLst>
    <p:sldId id="256" r:id="rId2"/>
    <p:sldId id="257" r:id="rId3"/>
    <p:sldId id="294" r:id="rId4"/>
    <p:sldId id="293" r:id="rId5"/>
    <p:sldId id="295" r:id="rId6"/>
    <p:sldId id="297" r:id="rId7"/>
    <p:sldId id="298" r:id="rId8"/>
    <p:sldId id="265" r:id="rId9"/>
    <p:sldId id="274" r:id="rId10"/>
    <p:sldId id="302" r:id="rId11"/>
    <p:sldId id="305" r:id="rId12"/>
    <p:sldId id="304" r:id="rId13"/>
    <p:sldId id="303" r:id="rId14"/>
    <p:sldId id="306" r:id="rId15"/>
    <p:sldId id="307" r:id="rId16"/>
    <p:sldId id="318" r:id="rId17"/>
    <p:sldId id="319" r:id="rId18"/>
    <p:sldId id="321" r:id="rId19"/>
    <p:sldId id="322" r:id="rId20"/>
    <p:sldId id="291" r:id="rId21"/>
    <p:sldId id="323" r:id="rId22"/>
    <p:sldId id="283" r:id="rId23"/>
    <p:sldId id="277" r:id="rId24"/>
    <p:sldId id="279" r:id="rId25"/>
    <p:sldId id="278" r:id="rId26"/>
    <p:sldId id="289" r:id="rId27"/>
    <p:sldId id="310" r:id="rId28"/>
    <p:sldId id="311" r:id="rId29"/>
    <p:sldId id="269" r:id="rId30"/>
    <p:sldId id="313" r:id="rId31"/>
    <p:sldId id="312" r:id="rId32"/>
    <p:sldId id="314" r:id="rId33"/>
    <p:sldId id="315" r:id="rId34"/>
    <p:sldId id="316" r:id="rId35"/>
    <p:sldId id="317" r:id="rId36"/>
    <p:sldId id="280" r:id="rId37"/>
    <p:sldId id="284" r:id="rId38"/>
    <p:sldId id="259" r:id="rId39"/>
    <p:sldId id="308" r:id="rId40"/>
    <p:sldId id="309" r:id="rId41"/>
    <p:sldId id="288" r:id="rId4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582C"/>
    <a:srgbClr val="151B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E5873D-4FDE-46C3-AA52-D61F8097F131}" v="2930" dt="2026-06-29T14:12:40.1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56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4CF347-1CAE-4F1E-98E8-4030536A472B}" type="datetimeFigureOut">
              <a:t>29.06.2026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941A5C-9584-4919-812A-084002589CF4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509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Ralph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41A5C-9584-4919-812A-084002589CF4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6491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Ralph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41A5C-9584-4919-812A-084002589CF4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1617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29A48-FBD7-8990-4D32-5B39CEB81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046B11-8B23-35F6-8514-FEDDE737DD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358FA5-40AE-2C77-91E1-C719B61C47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Nico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A15D2A-BD75-2380-CAB2-A2086D9215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41A5C-9584-4919-812A-084002589CF4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3251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5CC28-A99A-3C1F-AC72-A90F0C9EE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4D0BF9-B5BF-5715-F690-5ADDC22C2A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54C05C-C1ED-98AA-0CEF-216B4F751D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Nico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013D03-B7E5-545D-44BF-0B622B21D2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41A5C-9584-4919-812A-084002589CF4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9743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316F8-4CE4-46DB-1433-34FB93A1D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741D14-1415-FC69-174E-CF9A4673F3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747E18-8863-C9A4-A7CB-174B40E47B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Nico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6074A1-F8AB-1F2D-E6C1-462392FC9E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41A5C-9584-4919-812A-084002589CF4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5116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B8781-BC38-4B8C-6FB6-65094D8E2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0EEBCD-2C84-5584-465F-4D18B85B6B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649864-33A7-66E0-A371-0C704BA26F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Nico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13393B-BB79-2136-B042-A99C535EA7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41A5C-9584-4919-812A-084002589CF4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972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07C2B-0593-2F7B-0330-F7F5B7C3F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AF7671-EA44-FCE2-FB05-1C08723660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F6671B-18A6-10EB-2CFC-34F1539395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Nico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36C0EE-420F-74C5-9AA9-5E5A8AACDE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41A5C-9584-4919-812A-084002589CF4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1510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+mn-lt"/>
              </a:rPr>
              <a:t>Ralph</a:t>
            </a:r>
            <a:br>
              <a:rPr lang="en-US">
                <a:ea typeface="Calibri"/>
                <a:cs typeface="+mn-lt"/>
              </a:rPr>
            </a:br>
            <a:endParaRPr lang="en-US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err="1">
                <a:ea typeface="Calibri"/>
                <a:cs typeface="Calibri"/>
              </a:rPr>
              <a:t>Anmeldung</a:t>
            </a:r>
          </a:p>
          <a:p>
            <a:pPr marL="171450" indent="-17145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Create Joke und </a:t>
            </a:r>
            <a:r>
              <a:rPr lang="en-US" err="1">
                <a:ea typeface="Calibri"/>
                <a:cs typeface="Calibri"/>
              </a:rPr>
              <a:t>speichern</a:t>
            </a:r>
          </a:p>
          <a:p>
            <a:pPr marL="171450" indent="-17145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Get Source Joke und </a:t>
            </a:r>
            <a:r>
              <a:rPr lang="en-US" err="1">
                <a:ea typeface="Calibri"/>
                <a:cs typeface="Calibri"/>
              </a:rPr>
              <a:t>speichern</a:t>
            </a:r>
          </a:p>
          <a:p>
            <a:pPr marL="171450" indent="-17145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Display Joke</a:t>
            </a:r>
          </a:p>
          <a:p>
            <a:pPr marL="171450" indent="-171450">
              <a:buFont typeface="Arial"/>
              <a:buChar char="•"/>
            </a:pPr>
            <a:r>
              <a:rPr lang="en-US" err="1">
                <a:ea typeface="Calibri"/>
                <a:cs typeface="Calibri"/>
              </a:rPr>
              <a:t>Evtl</a:t>
            </a:r>
            <a:r>
              <a:rPr lang="en-US">
                <a:ea typeface="Calibri"/>
                <a:cs typeface="Calibri"/>
              </a:rPr>
              <a:t>.  UI </a:t>
            </a:r>
            <a:r>
              <a:rPr lang="en-US" err="1">
                <a:ea typeface="Calibri"/>
                <a:cs typeface="Calibri"/>
              </a:rPr>
              <a:t>Sprache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ändern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41A5C-9584-4919-812A-084002589CF4}" type="slidenum"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02328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7C270-7548-B314-5B8D-1F19E22D3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63193F9-E03A-2736-7AC6-BE8A2059C1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CE4CFC2-4F9A-C487-A9A1-F8048BB293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Michi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EDDD6D5-1C4C-7195-7D8B-B8AB49267C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41A5C-9584-4919-812A-084002589CF4}" type="slidenum"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08394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C18EC-0180-C78B-8146-A78CA06C4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EAA604-DAD4-CBA4-D95D-EB89247D4B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D5F920-C267-C7AF-5C1A-318C9F9304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Nico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D4D4E8-CC83-A8AC-1DEA-1202FBD6B6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41A5C-9584-4919-812A-084002589CF4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8127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BA43F-48E4-A81A-7949-ACA7F3319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DF8E14-C044-7AF8-2884-F9A1E87D78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A3B35A-A07A-32E9-BBDF-76ADA5FE77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Nico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1372E7-5247-F674-293B-1C4F198E7E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41A5C-9584-4919-812A-084002589CF4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00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5C492-2EBF-3D72-323F-F0A505607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176ED5-FB8C-D4A1-A6B3-B08056B2F5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361E34-6013-8A84-F761-D6AEFCF17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Nico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04A666-0519-0169-5114-56AAC1EB35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41A5C-9584-4919-812A-084002589CF4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8207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1798C-916C-6F6A-EF19-0BD3CB349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453BB4-8357-3491-72DF-F0EBBEE86D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9A32CC-0A38-978A-EE52-52B24F2073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Nico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0B2349-0B03-F5C2-16D8-C11CD02709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41A5C-9584-4919-812A-084002589CF4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0123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0C654-F0A5-0D3F-9339-A4C7E1EE8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49636F-470F-7918-3214-06DD01995C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FB65AA-CDF8-6697-011E-7A39ECD690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Nico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83B52-81A9-8112-F2EC-34D4F892DF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41A5C-9584-4919-812A-084002589CF4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9112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7B56F-5669-A298-FA4A-08742F704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1739D1-EA01-122F-B38D-3E093414F9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523B9E-FF62-AD13-4AFA-63E8AE0F4F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Nico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51C2C1-3708-0C15-AF72-BECDC46F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41A5C-9584-4919-812A-084002589CF4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9752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Ralph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41A5C-9584-4919-812A-084002589CF4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0006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Michi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41A5C-9584-4919-812A-084002589CF4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2447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Michi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41A5C-9584-4919-812A-084002589CF4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9335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Michi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41A5C-9584-4919-812A-084002589CF4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7740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FAF5C-15F8-1998-59B1-14E26C379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A3266F-A835-7884-128B-9BB5859D8A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8789EF-2BF1-7A70-3775-502FA585E9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Ralph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C9B74A-8882-636C-46CE-D6CF489806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41A5C-9584-4919-812A-084002589CF4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085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17FBC-6DA4-321E-BE1A-122A06000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407375-3C93-F184-4E65-23455A3B20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E9F926-3D8A-9302-7D42-15BA2F4F98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Nico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8F66B8-8CCE-4A33-1019-7449010627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41A5C-9584-4919-812A-084002589CF4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5235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CF420-87AE-521C-753D-9F9CF59FF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FD2E20-7EC9-6D7F-0ED1-FD892C52B4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667AC1-2D7A-D947-10B7-6937210B35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Nico</a:t>
            </a:r>
          </a:p>
          <a:p>
            <a:pPr marL="342900" indent="-342900">
              <a:buFont typeface="Arial"/>
              <a:buChar char="•"/>
            </a:pPr>
            <a:r>
              <a:rPr lang="en-US" dirty="0">
                <a:ea typeface="Calibri"/>
                <a:cs typeface="Calibri"/>
              </a:rPr>
              <a:t>Baseline-Test (</a:t>
            </a:r>
            <a:r>
              <a:rPr lang="en-US" dirty="0" err="1">
                <a:ea typeface="Calibri"/>
                <a:cs typeface="Calibri"/>
              </a:rPr>
              <a:t>normale</a:t>
            </a:r>
            <a:r>
              <a:rPr lang="en-US" dirty="0">
                <a:ea typeface="Calibri"/>
                <a:cs typeface="Calibri"/>
              </a:rPr>
              <a:t> Last, </a:t>
            </a:r>
            <a:r>
              <a:rPr lang="en-US" dirty="0" err="1">
                <a:ea typeface="Calibri"/>
                <a:cs typeface="Calibri"/>
              </a:rPr>
              <a:t>realistisches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Nutzerverhalten</a:t>
            </a:r>
            <a:r>
              <a:rPr lang="en-US" dirty="0">
                <a:ea typeface="Calibri"/>
                <a:cs typeface="Calibri"/>
              </a:rPr>
              <a:t>)</a:t>
            </a:r>
          </a:p>
          <a:p>
            <a:pPr marL="342900" indent="-342900">
              <a:buFont typeface="Arial"/>
              <a:buChar char="•"/>
            </a:pPr>
            <a:r>
              <a:rPr lang="en-US" dirty="0">
                <a:ea typeface="Calibri"/>
                <a:cs typeface="Calibri"/>
              </a:rPr>
              <a:t>Stress-Test (</a:t>
            </a:r>
            <a:r>
              <a:rPr lang="en-US" dirty="0" err="1">
                <a:ea typeface="Calibri"/>
                <a:cs typeface="Calibri"/>
              </a:rPr>
              <a:t>erhöhte</a:t>
            </a:r>
            <a:r>
              <a:rPr lang="en-US" dirty="0">
                <a:ea typeface="Calibri"/>
                <a:cs typeface="Calibri"/>
              </a:rPr>
              <a:t> Last)</a:t>
            </a:r>
          </a:p>
          <a:p>
            <a:pPr marL="342900" indent="-342900">
              <a:buFont typeface="Arial"/>
              <a:buChar char="•"/>
            </a:pPr>
            <a:r>
              <a:rPr lang="en-US" dirty="0">
                <a:ea typeface="Calibri"/>
                <a:cs typeface="Calibri"/>
              </a:rPr>
              <a:t>Spike-Test (</a:t>
            </a:r>
            <a:r>
              <a:rPr lang="en-US" dirty="0" err="1">
                <a:ea typeface="Calibri"/>
                <a:cs typeface="Calibri"/>
              </a:rPr>
              <a:t>plötzliche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Lastspitzen</a:t>
            </a:r>
            <a:r>
              <a:rPr lang="en-US" dirty="0">
                <a:ea typeface="Calibri"/>
                <a:cs typeface="Calibri"/>
              </a:rPr>
              <a:t>)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C54C0D-8B08-FACA-1749-1AFA8143A3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41A5C-9584-4919-812A-084002589CF4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2746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Ralph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41A5C-9584-4919-812A-084002589CF4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771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4F9B7-CFC0-A67B-A8BF-9DDF001FA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181522-0444-6B73-7FD1-69E640A72B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A6431F-D2AD-97FB-DFF8-F1A5E89284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Nico (zumindest den Teil mit dem Skript)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C571BB-02B2-1543-0D59-D59A999FF3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41A5C-9584-4919-812A-084002589CF4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9805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7F3D1-51C7-9187-7BD4-C87C3AEA3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4B60A6-79FF-4E95-AC60-169D765E51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8F38C3-B14A-8AD4-6254-FA3BDAA243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Nico (zumindest den Teil mit dem Skript)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980564-9316-86DC-FE5B-8F63CAE3DC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41A5C-9584-4919-812A-084002589CF4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00651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FBAFA-C6CB-2263-1987-26CCAC488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6A4BF5-4AF3-E071-D38B-6338A35600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4485A4-D482-5A04-87D3-0D041DFB92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Nico (zumindest den Teil mit dem Skript)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F59D04-30E5-6E65-A4F3-7C1FD3B0C7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41A5C-9584-4919-812A-084002589CF4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0712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98C1F-DBD7-55FD-A4B4-7DA0498D5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383369-2855-8912-7E99-A7E0FBAE84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CFFC7A-1A86-E3F9-6A5B-B87FAE991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Nico (zumindest den Teil mit dem Skript)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77C64C-07FB-74F5-6567-E87FFBF8F2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41A5C-9584-4919-812A-084002589CF4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26208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1C90A-2CE5-7E58-F949-F4B712C0E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AFC3C5-5E7A-4B84-25C5-14E854BC30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B23217-56ED-50D0-5289-E59BB2D45C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Nico (zumindest den Teil mit dem Skript)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606AE8-9907-ECB4-1D6E-D7113BEBCF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41A5C-9584-4919-812A-084002589CF4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5975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B84BF-D78C-C8EE-2F61-31805B5D5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61B04D-B38E-16AD-9DCC-ED014089DE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111BB1-E1B7-A441-C0D8-76817343D6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Nico (zumindest den Teil mit dem Skript)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59B45A-818A-CAB2-9A7F-D9B18C6697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41A5C-9584-4919-812A-084002589CF4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57775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Michi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41A5C-9584-4919-812A-084002589CF4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23881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Michi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41A5C-9584-4919-812A-084002589CF4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06661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Ralph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41A5C-9584-4919-812A-084002589CF4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07705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Nico</a:t>
            </a:r>
          </a:p>
          <a:p>
            <a:pPr marL="342900" indent="-342900">
              <a:buFont typeface="Arial" panose="020F0502020204030204" pitchFamily="34" charset="0"/>
              <a:buChar char="•"/>
            </a:pPr>
            <a:r>
              <a:rPr lang="en-US" dirty="0">
                <a:ea typeface="Calibri"/>
                <a:cs typeface="Calibri"/>
              </a:rPr>
              <a:t> </a:t>
            </a:r>
            <a:r>
              <a:rPr lang="en-US" dirty="0" err="1">
                <a:ea typeface="Calibri"/>
                <a:cs typeface="Calibri"/>
              </a:rPr>
              <a:t>Erfolgt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über</a:t>
            </a:r>
            <a:r>
              <a:rPr lang="en-US" dirty="0">
                <a:ea typeface="Calibri"/>
                <a:cs typeface="Calibri"/>
              </a:rPr>
              <a:t> start-application.sh und stop-application.sh</a:t>
            </a:r>
          </a:p>
          <a:p>
            <a:pPr marL="342900" indent="-342900">
              <a:buFont typeface="Arial" panose="020F0502020204030204" pitchFamily="34" charset="0"/>
              <a:buChar char="•"/>
            </a:pPr>
            <a:r>
              <a:rPr lang="en-US" dirty="0">
                <a:ea typeface="Calibri"/>
                <a:cs typeface="Calibri"/>
              </a:rPr>
              <a:t> </a:t>
            </a:r>
            <a:r>
              <a:rPr lang="en-US" dirty="0" err="1">
                <a:ea typeface="Calibri"/>
                <a:cs typeface="Calibri"/>
              </a:rPr>
              <a:t>Generiert</a:t>
            </a:r>
            <a:r>
              <a:rPr lang="en-US" dirty="0">
                <a:ea typeface="Calibri"/>
                <a:cs typeface="Calibri"/>
              </a:rPr>
              <a:t> .env </a:t>
            </a:r>
            <a:r>
              <a:rPr lang="en-US" dirty="0" err="1">
                <a:ea typeface="Calibri"/>
                <a:cs typeface="Calibri"/>
              </a:rPr>
              <a:t>aus</a:t>
            </a:r>
            <a:r>
              <a:rPr lang="en-US" dirty="0">
                <a:ea typeface="Calibri"/>
                <a:cs typeface="Calibri"/>
              </a:rPr>
              <a:t> .</a:t>
            </a:r>
            <a:r>
              <a:rPr lang="en-US" dirty="0" err="1">
                <a:ea typeface="Calibri"/>
                <a:cs typeface="Calibri"/>
              </a:rPr>
              <a:t>env.example</a:t>
            </a:r>
            <a:endParaRPr lang="en-US" dirty="0">
              <a:ea typeface="Calibri"/>
              <a:cs typeface="Calibri"/>
            </a:endParaRPr>
          </a:p>
          <a:p>
            <a:pPr marL="342900" indent="-342900">
              <a:buFont typeface="Arial" panose="020F0502020204030204" pitchFamily="34" charset="0"/>
              <a:buChar char="•"/>
            </a:pPr>
            <a:r>
              <a:rPr lang="en-US" dirty="0">
                <a:ea typeface="Calibri"/>
                <a:cs typeface="Calibri"/>
              </a:rPr>
              <a:t> Ports, Postgres Username </a:t>
            </a:r>
            <a:r>
              <a:rPr lang="en-US" dirty="0" err="1">
                <a:ea typeface="Calibri"/>
                <a:cs typeface="Calibri"/>
              </a:rPr>
              <a:t>konfigurierbar</a:t>
            </a:r>
            <a:endParaRPr lang="en-US" dirty="0">
              <a:ea typeface="Calibri"/>
              <a:cs typeface="Calibri"/>
            </a:endParaRPr>
          </a:p>
          <a:p>
            <a:pPr marL="342900" indent="-342900">
              <a:buFont typeface="Arial" panose="020F0502020204030204" pitchFamily="34" charset="0"/>
              <a:buChar char="•"/>
            </a:pPr>
            <a:r>
              <a:rPr lang="en-US" dirty="0">
                <a:ea typeface="Calibri"/>
                <a:cs typeface="Calibri"/>
              </a:rPr>
              <a:t> </a:t>
            </a:r>
            <a:r>
              <a:rPr lang="en-US" dirty="0" err="1">
                <a:ea typeface="Calibri"/>
                <a:cs typeface="Calibri"/>
              </a:rPr>
              <a:t>Passwörter</a:t>
            </a:r>
            <a:r>
              <a:rPr lang="en-US" dirty="0">
                <a:ea typeface="Calibri"/>
                <a:cs typeface="Calibri"/>
              </a:rPr>
              <a:t> nicht in .env, </a:t>
            </a:r>
            <a:r>
              <a:rPr lang="en-US" dirty="0" err="1">
                <a:ea typeface="Calibri"/>
                <a:cs typeface="Calibri"/>
              </a:rPr>
              <a:t>sondern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als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Dateien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unter</a:t>
            </a:r>
            <a:r>
              <a:rPr lang="en-US" dirty="0">
                <a:ea typeface="Calibri"/>
                <a:cs typeface="Calibri"/>
              </a:rPr>
              <a:t> .secrets/</a:t>
            </a:r>
          </a:p>
          <a:p>
            <a:pPr marL="342900" indent="-342900">
              <a:buFont typeface="Arial" panose="020F0502020204030204" pitchFamily="34" charset="0"/>
              <a:buChar char="•"/>
            </a:pPr>
            <a:r>
              <a:rPr lang="en-US" dirty="0">
                <a:ea typeface="Calibri"/>
                <a:cs typeface="Calibri"/>
              </a:rPr>
              <a:t> </a:t>
            </a:r>
            <a:r>
              <a:rPr lang="en-US" dirty="0" err="1">
                <a:ea typeface="Calibri"/>
                <a:cs typeface="Calibri"/>
              </a:rPr>
              <a:t>Startskript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prüft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dirty="0" err="1">
                <a:ea typeface="Calibri"/>
                <a:cs typeface="Calibri"/>
              </a:rPr>
              <a:t>ob</a:t>
            </a:r>
            <a:r>
              <a:rPr lang="en-US" dirty="0">
                <a:ea typeface="Calibri"/>
                <a:cs typeface="Calibri"/>
              </a:rPr>
              <a:t> </a:t>
            </a:r>
            <a:r>
              <a:rPr lang="en-US" dirty="0" err="1">
                <a:ea typeface="Calibri"/>
                <a:cs typeface="Calibri"/>
              </a:rPr>
              <a:t>Anmeldedaten</a:t>
            </a:r>
            <a:r>
              <a:rPr lang="en-US" dirty="0">
                <a:ea typeface="Calibri"/>
                <a:cs typeface="Calibri"/>
              </a:rPr>
              <a:t> für Admin </a:t>
            </a:r>
            <a:r>
              <a:rPr lang="en-US" dirty="0" err="1">
                <a:ea typeface="Calibri"/>
                <a:cs typeface="Calibri"/>
              </a:rPr>
              <a:t>vorhanden</a:t>
            </a:r>
            <a:r>
              <a:rPr lang="en-US" dirty="0">
                <a:ea typeface="Calibri"/>
                <a:cs typeface="Calibri"/>
              </a:rPr>
              <a:t> und </a:t>
            </a:r>
            <a:r>
              <a:rPr lang="en-US" dirty="0" err="1">
                <a:ea typeface="Calibri"/>
                <a:cs typeface="Calibri"/>
              </a:rPr>
              <a:t>korrekt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sind</a:t>
            </a:r>
            <a:r>
              <a:rPr lang="en-US" dirty="0">
                <a:ea typeface="Calibri"/>
                <a:cs typeface="Calibri"/>
              </a:rPr>
              <a:t> -&gt; </a:t>
            </a:r>
            <a:r>
              <a:rPr lang="en-US" dirty="0" err="1">
                <a:ea typeface="Calibri"/>
                <a:cs typeface="Calibri"/>
              </a:rPr>
              <a:t>sonst</a:t>
            </a:r>
            <a:r>
              <a:rPr lang="en-US" dirty="0">
                <a:ea typeface="Calibri"/>
                <a:cs typeface="Calibri"/>
              </a:rPr>
              <a:t> </a:t>
            </a:r>
            <a:r>
              <a:rPr lang="en-US" dirty="0" err="1">
                <a:ea typeface="Calibri"/>
                <a:cs typeface="Calibri"/>
              </a:rPr>
              <a:t>wird</a:t>
            </a:r>
            <a:r>
              <a:rPr lang="en-US" dirty="0">
                <a:ea typeface="Calibri"/>
                <a:cs typeface="Calibri"/>
              </a:rPr>
              <a:t> User </a:t>
            </a:r>
            <a:r>
              <a:rPr lang="en-US" dirty="0" err="1">
                <a:ea typeface="Calibri"/>
                <a:cs typeface="Calibri"/>
              </a:rPr>
              <a:t>aufgefordert</a:t>
            </a:r>
            <a:r>
              <a:rPr lang="en-US" dirty="0">
                <a:ea typeface="Calibri"/>
                <a:cs typeface="Calibri"/>
              </a:rPr>
              <a:t>, neu </a:t>
            </a:r>
            <a:r>
              <a:rPr lang="en-US" dirty="0" err="1">
                <a:ea typeface="Calibri"/>
                <a:cs typeface="Calibri"/>
              </a:rPr>
              <a:t>zu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vergeben</a:t>
            </a:r>
            <a:r>
              <a:rPr lang="en-US" dirty="0">
                <a:ea typeface="Calibri"/>
                <a:cs typeface="Calibri"/>
              </a:rPr>
              <a:t> (</a:t>
            </a:r>
            <a:r>
              <a:rPr lang="en-US" dirty="0" err="1">
                <a:ea typeface="Calibri"/>
                <a:cs typeface="Calibri"/>
              </a:rPr>
              <a:t>oder</a:t>
            </a:r>
            <a:r>
              <a:rPr lang="en-US" dirty="0">
                <a:ea typeface="Calibri"/>
                <a:cs typeface="Calibri"/>
              </a:rPr>
              <a:t> </a:t>
            </a:r>
            <a:r>
              <a:rPr lang="en-US" dirty="0" err="1">
                <a:ea typeface="Calibri"/>
                <a:cs typeface="Calibri"/>
              </a:rPr>
              <a:t>automatisch</a:t>
            </a:r>
            <a:r>
              <a:rPr lang="en-US" dirty="0">
                <a:ea typeface="Calibri"/>
                <a:cs typeface="Calibri"/>
              </a:rPr>
              <a:t> </a:t>
            </a:r>
            <a:r>
              <a:rPr lang="en-US" dirty="0" err="1">
                <a:ea typeface="Calibri"/>
                <a:cs typeface="Calibri"/>
              </a:rPr>
              <a:t>generieren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lassen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dirty="0" err="1">
                <a:ea typeface="Calibri"/>
                <a:cs typeface="Calibri"/>
              </a:rPr>
              <a:t>praktisch</a:t>
            </a:r>
            <a:r>
              <a:rPr lang="en-US" dirty="0">
                <a:ea typeface="Calibri"/>
                <a:cs typeface="Calibri"/>
              </a:rPr>
              <a:t> für CI)</a:t>
            </a:r>
          </a:p>
          <a:p>
            <a:pPr marL="342900" indent="-342900">
              <a:buFont typeface="Arial" panose="020F0502020204030204" pitchFamily="34" charset="0"/>
              <a:buChar char="•"/>
            </a:pPr>
            <a:r>
              <a:rPr lang="en-US" dirty="0">
                <a:ea typeface="Calibri"/>
                <a:cs typeface="Calibri"/>
              </a:rPr>
              <a:t> Reset-</a:t>
            </a:r>
            <a:r>
              <a:rPr lang="en-US" dirty="0" err="1">
                <a:ea typeface="Calibri"/>
                <a:cs typeface="Calibri"/>
              </a:rPr>
              <a:t>Funktion</a:t>
            </a:r>
            <a:r>
              <a:rPr lang="en-US" dirty="0">
                <a:ea typeface="Calibri"/>
                <a:cs typeface="Calibri"/>
              </a:rPr>
              <a:t> und </a:t>
            </a:r>
            <a:r>
              <a:rPr lang="en-US" dirty="0" err="1">
                <a:ea typeface="Calibri"/>
                <a:cs typeface="Calibri"/>
              </a:rPr>
              <a:t>weitere</a:t>
            </a:r>
            <a:r>
              <a:rPr lang="en-US" dirty="0">
                <a:ea typeface="Calibri"/>
                <a:cs typeface="Calibri"/>
              </a:rPr>
              <a:t> Flags </a:t>
            </a:r>
          </a:p>
          <a:p>
            <a:pPr marL="342900" indent="-342900">
              <a:buFont typeface="Arial" panose="020F0502020204030204" pitchFamily="34" charset="0"/>
              <a:buChar char="•"/>
            </a:pPr>
            <a:r>
              <a:rPr lang="en-US" dirty="0">
                <a:ea typeface="Calibri"/>
                <a:cs typeface="Calibri"/>
              </a:rPr>
              <a:t> </a:t>
            </a:r>
            <a:r>
              <a:rPr lang="en-US" dirty="0" err="1">
                <a:ea typeface="Calibri"/>
                <a:cs typeface="Calibri"/>
              </a:rPr>
              <a:t>Starten</a:t>
            </a:r>
            <a:r>
              <a:rPr lang="en-US" dirty="0">
                <a:ea typeface="Calibri"/>
                <a:cs typeface="Calibri"/>
              </a:rPr>
              <a:t> / </a:t>
            </a:r>
            <a:r>
              <a:rPr lang="en-US" dirty="0" err="1">
                <a:ea typeface="Calibri"/>
                <a:cs typeface="Calibri"/>
              </a:rPr>
              <a:t>Beenden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auch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manuell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mit</a:t>
            </a:r>
            <a:r>
              <a:rPr lang="en-US" dirty="0">
                <a:ea typeface="Calibri"/>
                <a:cs typeface="Calibri"/>
              </a:rPr>
              <a:t> docker compose </a:t>
            </a:r>
            <a:r>
              <a:rPr lang="en-US" dirty="0" err="1">
                <a:ea typeface="Calibri"/>
                <a:cs typeface="Calibri"/>
              </a:rPr>
              <a:t>möglich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dirty="0" err="1">
                <a:ea typeface="Calibri"/>
                <a:cs typeface="Calibri"/>
              </a:rPr>
              <a:t>aber</a:t>
            </a:r>
            <a:r>
              <a:rPr lang="en-US" dirty="0">
                <a:ea typeface="Calibri"/>
                <a:cs typeface="Calibri"/>
              </a:rPr>
              <a:t> .env und .secrets </a:t>
            </a:r>
            <a:r>
              <a:rPr lang="en-US" dirty="0" err="1">
                <a:ea typeface="Calibri"/>
                <a:cs typeface="Calibri"/>
              </a:rPr>
              <a:t>müssten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manuell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erstellt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werden</a:t>
            </a:r>
            <a:endParaRPr lang="en-US" dirty="0">
              <a:ea typeface="Calibri"/>
              <a:cs typeface="Calibri"/>
            </a:endParaRP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41A5C-9584-4919-812A-084002589CF4}" type="slidenum">
              <a:rPr lang="de-DE" smtClean="0"/>
              <a:t>39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74276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7B1D2-71FD-E166-D8C4-4C82E3805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924370-1A65-DC9E-2E88-7CD2712C30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CFAF1-D055-8473-DF2C-0532CA9EB0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Nico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42EFE2-3C0D-F7E2-8A2A-5DC588B9AD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41A5C-9584-4919-812A-084002589CF4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01288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20E62-EEF4-3192-D15C-44F789090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573DC1-922B-F492-77F9-A3C8D2FB4B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68E9C5-CED3-4DA1-F668-698353D90F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Nico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746EC3-4713-DA0B-8ADC-5347C9D3E1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41A5C-9584-4919-812A-084002589CF4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747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899389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0971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897409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085133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360261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27027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48977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083407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330029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93022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102775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‹Nr.›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9050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narcloud.io/summary/overall?id=MiChillDev_sqs-project&amp;branch=main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238873" cy="3566160"/>
          </a:xfrm>
        </p:spPr>
        <p:txBody>
          <a:bodyPr>
            <a:normAutofit/>
          </a:bodyPr>
          <a:lstStyle/>
          <a:p>
            <a:r>
              <a:rPr lang="de-DE" dirty="0">
                <a:solidFill>
                  <a:srgbClr val="262626"/>
                </a:solidFill>
                <a:ea typeface="Calibri Light"/>
                <a:cs typeface="Calibri Light"/>
              </a:rPr>
              <a:t>Chuck-Norris-</a:t>
            </a:r>
            <a:br>
              <a:rPr lang="de-DE" dirty="0">
                <a:solidFill>
                  <a:srgbClr val="262626"/>
                </a:solidFill>
                <a:ea typeface="Calibri Light"/>
                <a:cs typeface="Calibri Light"/>
              </a:rPr>
            </a:br>
            <a:r>
              <a:rPr lang="de-DE" dirty="0">
                <a:solidFill>
                  <a:srgbClr val="262626"/>
                </a:solidFill>
                <a:ea typeface="Calibri Light"/>
                <a:cs typeface="Calibri Light"/>
              </a:rPr>
              <a:t>Joke-Service</a:t>
            </a:r>
            <a:endParaRPr lang="de-DE" sz="2000" cap="all" dirty="0">
              <a:solidFill>
                <a:srgbClr val="637052"/>
              </a:solidFill>
              <a:ea typeface="Calibri Light"/>
              <a:cs typeface="Calibri Light"/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sz="2000" dirty="0">
                <a:solidFill>
                  <a:schemeClr val="tx1"/>
                </a:solidFill>
                <a:ea typeface="Calibri Light"/>
                <a:cs typeface="Calibri Light"/>
              </a:rPr>
              <a:t>Gruppe 4</a:t>
            </a:r>
          </a:p>
          <a:p>
            <a:r>
              <a:rPr lang="de-DE" dirty="0">
                <a:solidFill>
                  <a:schemeClr val="tx1"/>
                </a:solidFill>
                <a:ea typeface="Calibri Light"/>
                <a:cs typeface="Calibri Light"/>
              </a:rPr>
              <a:t>Ralph Kalweit, Nico Geis, Michael Niedermaier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BE358A1-2D50-4294-9D21-A08926D88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1</a:t>
            </a:fld>
            <a:endParaRPr lang="en-US"/>
          </a:p>
        </p:txBody>
      </p:sp>
      <p:pic>
        <p:nvPicPr>
          <p:cNvPr id="4" name="Picture 3" descr="File:Chuck Norris May 2015.jpg">
            <a:extLst>
              <a:ext uri="{FF2B5EF4-FFF2-40B4-BE49-F238E27FC236}">
                <a16:creationId xmlns:a16="http://schemas.microsoft.com/office/drawing/2014/main" id="{86C2026C-0C1D-4B77-4C3E-4EF6194D0A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5933" y="230724"/>
            <a:ext cx="3078787" cy="3794314"/>
          </a:xfrm>
          <a:prstGeom prst="rect">
            <a:avLst/>
          </a:prstGeom>
          <a:effectLst>
            <a:glow rad="101600">
              <a:schemeClr val="accent1">
                <a:alpha val="60000"/>
              </a:schemeClr>
            </a:glo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FA6F57-AA0E-FAE0-985E-6DDD95808A58}"/>
              </a:ext>
            </a:extLst>
          </p:cNvPr>
          <p:cNvSpPr txBox="1"/>
          <p:nvPr/>
        </p:nvSpPr>
        <p:spPr>
          <a:xfrm>
            <a:off x="8999755" y="4082742"/>
            <a:ext cx="2336398" cy="1846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" dirty="0">
                <a:ea typeface="+mn-lt"/>
                <a:cs typeface="+mn-lt"/>
              </a:rPr>
              <a:t>https://en.wikipedia.org/wiki/File:Chuck_Norris_May_2015.jpg</a:t>
            </a:r>
            <a:endParaRPr lang="en-US" sz="6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77499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8E3AF-A36C-5F92-156D-7AB8A9F6B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Idee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525F9-FF81-1E57-04D4-AFE954442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marL="342900" indent="-342900">
              <a:buFont typeface="Arial" panose="020F0502020204030204" pitchFamily="34" charset="0"/>
              <a:buChar char="•"/>
            </a:pPr>
            <a:r>
              <a:rPr lang="de-DE">
                <a:ea typeface="Calibri"/>
                <a:cs typeface="Calibri"/>
              </a:rPr>
              <a:t> Witze von Chuck Norris API abfragen</a:t>
            </a:r>
            <a:endParaRPr lang="en-US"/>
          </a:p>
          <a:p>
            <a:pPr marL="342900" indent="-342900">
              <a:buFont typeface="Arial" panose="020F0502020204030204" pitchFamily="34" charset="0"/>
              <a:buChar char="•"/>
            </a:pPr>
            <a:r>
              <a:rPr lang="de-DE">
                <a:ea typeface="Calibri"/>
                <a:cs typeface="Calibri"/>
              </a:rPr>
              <a:t> Witze in eigener DB speichern (optional bearbeiten)</a:t>
            </a:r>
          </a:p>
          <a:p>
            <a:pPr marL="342900" indent="-342900">
              <a:buFont typeface="Arial" panose="020F0502020204030204" pitchFamily="34" charset="0"/>
              <a:buChar char="•"/>
            </a:pPr>
            <a:r>
              <a:rPr lang="de-DE">
                <a:ea typeface="Calibri"/>
                <a:cs typeface="Calibri"/>
              </a:rPr>
              <a:t> Witze aus eigener DB öffentlich bereitstellen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C989D-A07A-06D1-D7D6-A61B71525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386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8FEE1-C85E-FCD7-9323-73A1829E5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4E7AF-2E81-45A6-A0AD-970471B63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Scope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AB6F59-1E4E-95D4-2CE7-DF5243218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3</a:t>
            </a:fld>
            <a:endParaRPr lang="en-US"/>
          </a:p>
        </p:txBody>
      </p:sp>
      <p:sp>
        <p:nvSpPr>
          <p:cNvPr id="5" name="Parallelogramm 4">
            <a:extLst>
              <a:ext uri="{FF2B5EF4-FFF2-40B4-BE49-F238E27FC236}">
                <a16:creationId xmlns:a16="http://schemas.microsoft.com/office/drawing/2014/main" id="{98B33DA6-29C9-C982-25D2-A45E2602A57A}"/>
              </a:ext>
            </a:extLst>
          </p:cNvPr>
          <p:cNvSpPr/>
          <p:nvPr/>
        </p:nvSpPr>
        <p:spPr>
          <a:xfrm>
            <a:off x="1739154" y="3062344"/>
            <a:ext cx="4078940" cy="733313"/>
          </a:xfrm>
          <a:prstGeom prst="parallelogram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Zufälligen Witz aus der Datenbank abfragen</a:t>
            </a:r>
          </a:p>
        </p:txBody>
      </p:sp>
      <p:sp>
        <p:nvSpPr>
          <p:cNvPr id="6" name="Parallelogramm 5">
            <a:extLst>
              <a:ext uri="{FF2B5EF4-FFF2-40B4-BE49-F238E27FC236}">
                <a16:creationId xmlns:a16="http://schemas.microsoft.com/office/drawing/2014/main" id="{0FBAE79E-5ED3-E1D2-AA63-F96FFE573C26}"/>
              </a:ext>
            </a:extLst>
          </p:cNvPr>
          <p:cNvSpPr/>
          <p:nvPr/>
        </p:nvSpPr>
        <p:spPr>
          <a:xfrm>
            <a:off x="6598551" y="3062343"/>
            <a:ext cx="3899119" cy="733313"/>
          </a:xfrm>
          <a:prstGeom prst="parallelogram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Witze gezielt abfragen </a:t>
            </a:r>
          </a:p>
        </p:txBody>
      </p:sp>
      <p:pic>
        <p:nvPicPr>
          <p:cNvPr id="9" name="Grafik 8" descr="Häkchen mit einfarbiger Füllung">
            <a:extLst>
              <a:ext uri="{FF2B5EF4-FFF2-40B4-BE49-F238E27FC236}">
                <a16:creationId xmlns:a16="http://schemas.microsoft.com/office/drawing/2014/main" id="{4BAC4B64-E388-5BA1-EE97-39951418A3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3923" y="2822985"/>
            <a:ext cx="914400" cy="914400"/>
          </a:xfrm>
          <a:prstGeom prst="rect">
            <a:avLst/>
          </a:prstGeom>
        </p:spPr>
      </p:pic>
      <p:pic>
        <p:nvPicPr>
          <p:cNvPr id="11" name="Grafik 10" descr="Schließen mit einfarbiger Füllung">
            <a:extLst>
              <a:ext uri="{FF2B5EF4-FFF2-40B4-BE49-F238E27FC236}">
                <a16:creationId xmlns:a16="http://schemas.microsoft.com/office/drawing/2014/main" id="{3D9E268F-A736-C48D-B353-D19D7586A9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18387" y="288125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677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D38EA-EE6A-3EC3-7966-B615BE01F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C0FA1-DA18-B2F7-C23C-02B05F6CF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Scope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F8145-03FD-B0B0-148A-F0FBFABA1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4</a:t>
            </a:fld>
            <a:endParaRPr lang="en-US"/>
          </a:p>
        </p:txBody>
      </p:sp>
      <p:sp>
        <p:nvSpPr>
          <p:cNvPr id="5" name="Parallelogramm 4">
            <a:extLst>
              <a:ext uri="{FF2B5EF4-FFF2-40B4-BE49-F238E27FC236}">
                <a16:creationId xmlns:a16="http://schemas.microsoft.com/office/drawing/2014/main" id="{A7D79DD1-B8A1-1CE6-CD34-2CD984D2ED9E}"/>
              </a:ext>
            </a:extLst>
          </p:cNvPr>
          <p:cNvSpPr/>
          <p:nvPr/>
        </p:nvSpPr>
        <p:spPr>
          <a:xfrm>
            <a:off x="2061883" y="2345167"/>
            <a:ext cx="4078940" cy="733313"/>
          </a:xfrm>
          <a:prstGeom prst="parallelogram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Zufälligen Witz aus der Datenbank abfragen</a:t>
            </a:r>
          </a:p>
        </p:txBody>
      </p:sp>
      <p:sp>
        <p:nvSpPr>
          <p:cNvPr id="6" name="Parallelogramm 5">
            <a:extLst>
              <a:ext uri="{FF2B5EF4-FFF2-40B4-BE49-F238E27FC236}">
                <a16:creationId xmlns:a16="http://schemas.microsoft.com/office/drawing/2014/main" id="{99C10824-D8F8-83DB-744D-49C062A1C678}"/>
              </a:ext>
            </a:extLst>
          </p:cNvPr>
          <p:cNvSpPr/>
          <p:nvPr/>
        </p:nvSpPr>
        <p:spPr>
          <a:xfrm>
            <a:off x="6921280" y="2345166"/>
            <a:ext cx="3899119" cy="733313"/>
          </a:xfrm>
          <a:prstGeom prst="parallelogram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Witze gezielt abfragen </a:t>
            </a:r>
          </a:p>
        </p:txBody>
      </p:sp>
      <p:sp>
        <p:nvSpPr>
          <p:cNvPr id="3" name="Parallelogramm 2">
            <a:extLst>
              <a:ext uri="{FF2B5EF4-FFF2-40B4-BE49-F238E27FC236}">
                <a16:creationId xmlns:a16="http://schemas.microsoft.com/office/drawing/2014/main" id="{BE6C3096-FB67-AA8F-CC5B-1B8006C6914B}"/>
              </a:ext>
            </a:extLst>
          </p:cNvPr>
          <p:cNvSpPr/>
          <p:nvPr/>
        </p:nvSpPr>
        <p:spPr>
          <a:xfrm>
            <a:off x="1775011" y="3246113"/>
            <a:ext cx="4168589" cy="1072080"/>
          </a:xfrm>
          <a:prstGeom prst="parallelogram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Neue Witze erstellen: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Selber eintippen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Von öffentlicher API abfragen</a:t>
            </a:r>
          </a:p>
        </p:txBody>
      </p:sp>
      <p:sp>
        <p:nvSpPr>
          <p:cNvPr id="10" name="Parallelogramm 9">
            <a:extLst>
              <a:ext uri="{FF2B5EF4-FFF2-40B4-BE49-F238E27FC236}">
                <a16:creationId xmlns:a16="http://schemas.microsoft.com/office/drawing/2014/main" id="{A48284EB-F1B2-C7DE-351E-A2C498E8070A}"/>
              </a:ext>
            </a:extLst>
          </p:cNvPr>
          <p:cNvSpPr/>
          <p:nvPr/>
        </p:nvSpPr>
        <p:spPr>
          <a:xfrm>
            <a:off x="6642848" y="3243481"/>
            <a:ext cx="3965986" cy="1072080"/>
          </a:xfrm>
          <a:prstGeom prst="parallelogram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Verwaltungsübersicht mit allen Witzen für Admin</a:t>
            </a:r>
          </a:p>
        </p:txBody>
      </p:sp>
      <p:pic>
        <p:nvPicPr>
          <p:cNvPr id="16" name="Grafik 15" descr="Häkchen mit einfarbiger Füllung">
            <a:extLst>
              <a:ext uri="{FF2B5EF4-FFF2-40B4-BE49-F238E27FC236}">
                <a16:creationId xmlns:a16="http://schemas.microsoft.com/office/drawing/2014/main" id="{BFC704E9-01D3-9281-D43F-C34FB12F06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02" y="3155037"/>
            <a:ext cx="914400" cy="914400"/>
          </a:xfrm>
          <a:prstGeom prst="rect">
            <a:avLst/>
          </a:prstGeom>
        </p:spPr>
      </p:pic>
      <p:pic>
        <p:nvPicPr>
          <p:cNvPr id="17" name="Grafik 16" descr="Schließen mit einfarbiger Füllung">
            <a:extLst>
              <a:ext uri="{FF2B5EF4-FFF2-40B4-BE49-F238E27FC236}">
                <a16:creationId xmlns:a16="http://schemas.microsoft.com/office/drawing/2014/main" id="{FB9C495C-2B3F-CF6E-FBCE-46418F21B5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58466" y="321330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3167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FF253-1326-B365-A9AD-6AA17CEA7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86DB9-BBDD-8925-4C81-AC719115C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Scope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542A75-ACA9-23FF-BE35-7C93812BD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5</a:t>
            </a:fld>
            <a:endParaRPr lang="en-US"/>
          </a:p>
        </p:txBody>
      </p:sp>
      <p:sp>
        <p:nvSpPr>
          <p:cNvPr id="5" name="Parallelogramm 4">
            <a:extLst>
              <a:ext uri="{FF2B5EF4-FFF2-40B4-BE49-F238E27FC236}">
                <a16:creationId xmlns:a16="http://schemas.microsoft.com/office/drawing/2014/main" id="{0ED565B1-F4FA-BB3E-12B7-206662D3B1DF}"/>
              </a:ext>
            </a:extLst>
          </p:cNvPr>
          <p:cNvSpPr/>
          <p:nvPr/>
        </p:nvSpPr>
        <p:spPr>
          <a:xfrm>
            <a:off x="2590800" y="1251473"/>
            <a:ext cx="4078940" cy="733313"/>
          </a:xfrm>
          <a:prstGeom prst="parallelogram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Zufälligen Witz aus der Datenbank abfragen</a:t>
            </a:r>
          </a:p>
        </p:txBody>
      </p:sp>
      <p:sp>
        <p:nvSpPr>
          <p:cNvPr id="6" name="Parallelogramm 5">
            <a:extLst>
              <a:ext uri="{FF2B5EF4-FFF2-40B4-BE49-F238E27FC236}">
                <a16:creationId xmlns:a16="http://schemas.microsoft.com/office/drawing/2014/main" id="{4E7FEF29-3657-7F78-D4E3-7EB90E92CBD2}"/>
              </a:ext>
            </a:extLst>
          </p:cNvPr>
          <p:cNvSpPr/>
          <p:nvPr/>
        </p:nvSpPr>
        <p:spPr>
          <a:xfrm>
            <a:off x="7450197" y="1251472"/>
            <a:ext cx="3899119" cy="733313"/>
          </a:xfrm>
          <a:prstGeom prst="parallelogram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Witze gezielt abfragen </a:t>
            </a:r>
          </a:p>
        </p:txBody>
      </p:sp>
      <p:sp>
        <p:nvSpPr>
          <p:cNvPr id="3" name="Parallelogramm 2">
            <a:extLst>
              <a:ext uri="{FF2B5EF4-FFF2-40B4-BE49-F238E27FC236}">
                <a16:creationId xmlns:a16="http://schemas.microsoft.com/office/drawing/2014/main" id="{E39842CE-F29C-956A-061F-C0DFC2259F45}"/>
              </a:ext>
            </a:extLst>
          </p:cNvPr>
          <p:cNvSpPr/>
          <p:nvPr/>
        </p:nvSpPr>
        <p:spPr>
          <a:xfrm>
            <a:off x="2303928" y="2152419"/>
            <a:ext cx="4168589" cy="1072080"/>
          </a:xfrm>
          <a:prstGeom prst="parallelogram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Neue Witze erstellen: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Selber eintippen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Von öffentlicher API abfragen</a:t>
            </a:r>
          </a:p>
        </p:txBody>
      </p:sp>
      <p:sp>
        <p:nvSpPr>
          <p:cNvPr id="10" name="Parallelogramm 9">
            <a:extLst>
              <a:ext uri="{FF2B5EF4-FFF2-40B4-BE49-F238E27FC236}">
                <a16:creationId xmlns:a16="http://schemas.microsoft.com/office/drawing/2014/main" id="{C2CC19D8-D58A-2B46-2115-1FD3EB343AC0}"/>
              </a:ext>
            </a:extLst>
          </p:cNvPr>
          <p:cNvSpPr/>
          <p:nvPr/>
        </p:nvSpPr>
        <p:spPr>
          <a:xfrm>
            <a:off x="7171765" y="2149787"/>
            <a:ext cx="3965986" cy="1072080"/>
          </a:xfrm>
          <a:prstGeom prst="parallelogram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Verwaltungsübersicht mit allen Witzen für Admin</a:t>
            </a:r>
          </a:p>
        </p:txBody>
      </p:sp>
      <p:sp>
        <p:nvSpPr>
          <p:cNvPr id="7" name="Parallelogramm 6">
            <a:extLst>
              <a:ext uri="{FF2B5EF4-FFF2-40B4-BE49-F238E27FC236}">
                <a16:creationId xmlns:a16="http://schemas.microsoft.com/office/drawing/2014/main" id="{D75ABE9D-6E11-2613-3EBC-9A08087D9F23}"/>
              </a:ext>
            </a:extLst>
          </p:cNvPr>
          <p:cNvSpPr/>
          <p:nvPr/>
        </p:nvSpPr>
        <p:spPr>
          <a:xfrm>
            <a:off x="2017059" y="3386869"/>
            <a:ext cx="4168589" cy="1066817"/>
          </a:xfrm>
          <a:prstGeom prst="parallelogram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User Authentication: Anmeldung als Administrator</a:t>
            </a:r>
          </a:p>
        </p:txBody>
      </p:sp>
      <p:sp>
        <p:nvSpPr>
          <p:cNvPr id="8" name="Parallelogramm 7">
            <a:extLst>
              <a:ext uri="{FF2B5EF4-FFF2-40B4-BE49-F238E27FC236}">
                <a16:creationId xmlns:a16="http://schemas.microsoft.com/office/drawing/2014/main" id="{BFEC56DB-15DE-3BFA-6A40-A2CE7FE9A9C9}"/>
              </a:ext>
            </a:extLst>
          </p:cNvPr>
          <p:cNvSpPr/>
          <p:nvPr/>
        </p:nvSpPr>
        <p:spPr>
          <a:xfrm>
            <a:off x="6866966" y="3381606"/>
            <a:ext cx="3965986" cy="1072080"/>
          </a:xfrm>
          <a:prstGeom prst="parallelogram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User-Management: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Neuregistrierung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Rollen (Admin vs. Standard)</a:t>
            </a:r>
          </a:p>
        </p:txBody>
      </p:sp>
      <p:pic>
        <p:nvPicPr>
          <p:cNvPr id="9" name="Grafik 8" descr="Häkchen mit einfarbiger Füllung">
            <a:extLst>
              <a:ext uri="{FF2B5EF4-FFF2-40B4-BE49-F238E27FC236}">
                <a16:creationId xmlns:a16="http://schemas.microsoft.com/office/drawing/2014/main" id="{70C790C3-8D59-B8CB-6F5B-AAA6084C87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73619" y="3381606"/>
            <a:ext cx="914400" cy="914400"/>
          </a:xfrm>
          <a:prstGeom prst="rect">
            <a:avLst/>
          </a:prstGeom>
        </p:spPr>
      </p:pic>
      <p:pic>
        <p:nvPicPr>
          <p:cNvPr id="11" name="Grafik 10" descr="Schließen mit einfarbiger Füllung">
            <a:extLst>
              <a:ext uri="{FF2B5EF4-FFF2-40B4-BE49-F238E27FC236}">
                <a16:creationId xmlns:a16="http://schemas.microsoft.com/office/drawing/2014/main" id="{94F19976-1483-E3AA-5A3B-B688BFB8B7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98083" y="343987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6802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6029A-7EE9-0ABA-E106-5B7284B32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C1E65-A9CF-D6DB-3528-A0AC63554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Scope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AC2F6-4061-67B8-F951-109535D55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6</a:t>
            </a:fld>
            <a:endParaRPr lang="en-US"/>
          </a:p>
        </p:txBody>
      </p:sp>
      <p:sp>
        <p:nvSpPr>
          <p:cNvPr id="5" name="Parallelogramm 4">
            <a:extLst>
              <a:ext uri="{FF2B5EF4-FFF2-40B4-BE49-F238E27FC236}">
                <a16:creationId xmlns:a16="http://schemas.microsoft.com/office/drawing/2014/main" id="{F3DFF582-CA7E-F6B2-B180-D097CE1380E8}"/>
              </a:ext>
            </a:extLst>
          </p:cNvPr>
          <p:cNvSpPr/>
          <p:nvPr/>
        </p:nvSpPr>
        <p:spPr>
          <a:xfrm>
            <a:off x="2970331" y="367332"/>
            <a:ext cx="4078940" cy="733313"/>
          </a:xfrm>
          <a:prstGeom prst="parallelogram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Zufälligen Witz aus der Datenbank abfragen</a:t>
            </a:r>
          </a:p>
        </p:txBody>
      </p:sp>
      <p:sp>
        <p:nvSpPr>
          <p:cNvPr id="6" name="Parallelogramm 5">
            <a:extLst>
              <a:ext uri="{FF2B5EF4-FFF2-40B4-BE49-F238E27FC236}">
                <a16:creationId xmlns:a16="http://schemas.microsoft.com/office/drawing/2014/main" id="{E20D5F40-3601-D2CD-2FC9-D6C7DF1868E6}"/>
              </a:ext>
            </a:extLst>
          </p:cNvPr>
          <p:cNvSpPr/>
          <p:nvPr/>
        </p:nvSpPr>
        <p:spPr>
          <a:xfrm>
            <a:off x="7829728" y="367331"/>
            <a:ext cx="3899119" cy="733313"/>
          </a:xfrm>
          <a:prstGeom prst="parallelogram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Witze gezielt abfragen </a:t>
            </a:r>
          </a:p>
        </p:txBody>
      </p:sp>
      <p:sp>
        <p:nvSpPr>
          <p:cNvPr id="3" name="Parallelogramm 2">
            <a:extLst>
              <a:ext uri="{FF2B5EF4-FFF2-40B4-BE49-F238E27FC236}">
                <a16:creationId xmlns:a16="http://schemas.microsoft.com/office/drawing/2014/main" id="{A5106D1F-6CC6-782F-BBF1-218D653ACF13}"/>
              </a:ext>
            </a:extLst>
          </p:cNvPr>
          <p:cNvSpPr/>
          <p:nvPr/>
        </p:nvSpPr>
        <p:spPr>
          <a:xfrm>
            <a:off x="2683459" y="1268278"/>
            <a:ext cx="4168589" cy="1072080"/>
          </a:xfrm>
          <a:prstGeom prst="parallelogram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Neue Witze erstellen: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Selber eintippen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Von öffentlicher API abfragen</a:t>
            </a:r>
          </a:p>
        </p:txBody>
      </p:sp>
      <p:sp>
        <p:nvSpPr>
          <p:cNvPr id="10" name="Parallelogramm 9">
            <a:extLst>
              <a:ext uri="{FF2B5EF4-FFF2-40B4-BE49-F238E27FC236}">
                <a16:creationId xmlns:a16="http://schemas.microsoft.com/office/drawing/2014/main" id="{78E2242C-8036-CD56-C1B5-A92BCEF163F7}"/>
              </a:ext>
            </a:extLst>
          </p:cNvPr>
          <p:cNvSpPr/>
          <p:nvPr/>
        </p:nvSpPr>
        <p:spPr>
          <a:xfrm>
            <a:off x="7551296" y="1265646"/>
            <a:ext cx="3965986" cy="1072080"/>
          </a:xfrm>
          <a:prstGeom prst="parallelogram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Verwaltungsübersicht mit allen Witzen für Admin</a:t>
            </a:r>
          </a:p>
        </p:txBody>
      </p:sp>
      <p:sp>
        <p:nvSpPr>
          <p:cNvPr id="7" name="Parallelogramm 6">
            <a:extLst>
              <a:ext uri="{FF2B5EF4-FFF2-40B4-BE49-F238E27FC236}">
                <a16:creationId xmlns:a16="http://schemas.microsoft.com/office/drawing/2014/main" id="{A22C1212-53F9-917C-213C-CCE12A9C9150}"/>
              </a:ext>
            </a:extLst>
          </p:cNvPr>
          <p:cNvSpPr/>
          <p:nvPr/>
        </p:nvSpPr>
        <p:spPr>
          <a:xfrm>
            <a:off x="2396590" y="2502728"/>
            <a:ext cx="4168589" cy="1066817"/>
          </a:xfrm>
          <a:prstGeom prst="parallelogram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User Authentication: Anmeldung als Administrator</a:t>
            </a:r>
          </a:p>
        </p:txBody>
      </p:sp>
      <p:sp>
        <p:nvSpPr>
          <p:cNvPr id="8" name="Parallelogramm 7">
            <a:extLst>
              <a:ext uri="{FF2B5EF4-FFF2-40B4-BE49-F238E27FC236}">
                <a16:creationId xmlns:a16="http://schemas.microsoft.com/office/drawing/2014/main" id="{E3825059-2645-4B10-306A-CAA2AD8E5C7C}"/>
              </a:ext>
            </a:extLst>
          </p:cNvPr>
          <p:cNvSpPr/>
          <p:nvPr/>
        </p:nvSpPr>
        <p:spPr>
          <a:xfrm>
            <a:off x="7246497" y="2497465"/>
            <a:ext cx="3965986" cy="1072080"/>
          </a:xfrm>
          <a:prstGeom prst="parallelogram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User-Management: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Neuregistrierung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Rollen (Admin vs. Standard)</a:t>
            </a:r>
          </a:p>
        </p:txBody>
      </p:sp>
      <p:sp>
        <p:nvSpPr>
          <p:cNvPr id="9" name="Parallelogramm 8">
            <a:extLst>
              <a:ext uri="{FF2B5EF4-FFF2-40B4-BE49-F238E27FC236}">
                <a16:creationId xmlns:a16="http://schemas.microsoft.com/office/drawing/2014/main" id="{146D91AF-EE70-B425-AD79-7F46CE57A913}"/>
              </a:ext>
            </a:extLst>
          </p:cNvPr>
          <p:cNvSpPr/>
          <p:nvPr/>
        </p:nvSpPr>
        <p:spPr>
          <a:xfrm>
            <a:off x="2178420" y="3731915"/>
            <a:ext cx="4105836" cy="733313"/>
          </a:xfrm>
          <a:prstGeom prst="parallelogram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GUI auf Englisch und Deutsch</a:t>
            </a:r>
          </a:p>
        </p:txBody>
      </p:sp>
      <p:sp>
        <p:nvSpPr>
          <p:cNvPr id="11" name="Parallelogramm 10">
            <a:extLst>
              <a:ext uri="{FF2B5EF4-FFF2-40B4-BE49-F238E27FC236}">
                <a16:creationId xmlns:a16="http://schemas.microsoft.com/office/drawing/2014/main" id="{128A9F18-D685-5727-5755-10FE9F769641}"/>
              </a:ext>
            </a:extLst>
          </p:cNvPr>
          <p:cNvSpPr/>
          <p:nvPr/>
        </p:nvSpPr>
        <p:spPr>
          <a:xfrm>
            <a:off x="7049271" y="3731915"/>
            <a:ext cx="3887670" cy="733313"/>
          </a:xfrm>
          <a:prstGeom prst="parallelogram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Witz-Übersetzung</a:t>
            </a:r>
          </a:p>
        </p:txBody>
      </p:sp>
      <p:pic>
        <p:nvPicPr>
          <p:cNvPr id="14" name="Grafik 13" descr="Häkchen mit einfarbiger Füllung">
            <a:extLst>
              <a:ext uri="{FF2B5EF4-FFF2-40B4-BE49-F238E27FC236}">
                <a16:creationId xmlns:a16="http://schemas.microsoft.com/office/drawing/2014/main" id="{4E71938E-E10A-30E2-E185-2192B9EE8B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73619" y="3569545"/>
            <a:ext cx="914400" cy="914400"/>
          </a:xfrm>
          <a:prstGeom prst="rect">
            <a:avLst/>
          </a:prstGeom>
        </p:spPr>
      </p:pic>
      <p:pic>
        <p:nvPicPr>
          <p:cNvPr id="15" name="Grafik 14" descr="Schließen mit einfarbiger Füllung">
            <a:extLst>
              <a:ext uri="{FF2B5EF4-FFF2-40B4-BE49-F238E27FC236}">
                <a16:creationId xmlns:a16="http://schemas.microsoft.com/office/drawing/2014/main" id="{547DB022-CABD-0A25-6ED3-E1B7C2FF1E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98083" y="362781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243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95AFB-954A-98C9-9DDA-0461C41F7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A9B18-0EDD-BD4A-64F4-0FD913EE1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Scope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D69B4E-58D5-D4B4-1C4E-C58A712F9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7</a:t>
            </a:fld>
            <a:endParaRPr lang="en-US"/>
          </a:p>
        </p:txBody>
      </p:sp>
      <p:sp>
        <p:nvSpPr>
          <p:cNvPr id="5" name="Parallelogramm 4">
            <a:extLst>
              <a:ext uri="{FF2B5EF4-FFF2-40B4-BE49-F238E27FC236}">
                <a16:creationId xmlns:a16="http://schemas.microsoft.com/office/drawing/2014/main" id="{2138C512-8B57-1690-7928-3BC5B60CD726}"/>
              </a:ext>
            </a:extLst>
          </p:cNvPr>
          <p:cNvSpPr/>
          <p:nvPr/>
        </p:nvSpPr>
        <p:spPr>
          <a:xfrm>
            <a:off x="3015155" y="205967"/>
            <a:ext cx="4078940" cy="733313"/>
          </a:xfrm>
          <a:prstGeom prst="parallelogram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Zufälligen Witz aus der Datenbank abfragen</a:t>
            </a:r>
          </a:p>
        </p:txBody>
      </p:sp>
      <p:sp>
        <p:nvSpPr>
          <p:cNvPr id="6" name="Parallelogramm 5">
            <a:extLst>
              <a:ext uri="{FF2B5EF4-FFF2-40B4-BE49-F238E27FC236}">
                <a16:creationId xmlns:a16="http://schemas.microsoft.com/office/drawing/2014/main" id="{43E7578F-FCAA-EBE8-F564-43C14D1470BC}"/>
              </a:ext>
            </a:extLst>
          </p:cNvPr>
          <p:cNvSpPr/>
          <p:nvPr/>
        </p:nvSpPr>
        <p:spPr>
          <a:xfrm>
            <a:off x="7874552" y="205966"/>
            <a:ext cx="3899119" cy="733313"/>
          </a:xfrm>
          <a:prstGeom prst="parallelogram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Witze gezielt abfragen </a:t>
            </a:r>
          </a:p>
        </p:txBody>
      </p:sp>
      <p:sp>
        <p:nvSpPr>
          <p:cNvPr id="3" name="Parallelogramm 2">
            <a:extLst>
              <a:ext uri="{FF2B5EF4-FFF2-40B4-BE49-F238E27FC236}">
                <a16:creationId xmlns:a16="http://schemas.microsoft.com/office/drawing/2014/main" id="{3F5E490D-BFD0-1C03-C33A-4B7353916B01}"/>
              </a:ext>
            </a:extLst>
          </p:cNvPr>
          <p:cNvSpPr/>
          <p:nvPr/>
        </p:nvSpPr>
        <p:spPr>
          <a:xfrm>
            <a:off x="2728283" y="1106913"/>
            <a:ext cx="4168589" cy="1072080"/>
          </a:xfrm>
          <a:prstGeom prst="parallelogram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Neue Witze erstellen: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Selber eintippen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Von öffentlicher API abfragen</a:t>
            </a:r>
          </a:p>
        </p:txBody>
      </p:sp>
      <p:sp>
        <p:nvSpPr>
          <p:cNvPr id="10" name="Parallelogramm 9">
            <a:extLst>
              <a:ext uri="{FF2B5EF4-FFF2-40B4-BE49-F238E27FC236}">
                <a16:creationId xmlns:a16="http://schemas.microsoft.com/office/drawing/2014/main" id="{2AEE0AD8-2E36-EF99-087A-CEF8C1D67007}"/>
              </a:ext>
            </a:extLst>
          </p:cNvPr>
          <p:cNvSpPr/>
          <p:nvPr/>
        </p:nvSpPr>
        <p:spPr>
          <a:xfrm>
            <a:off x="7596120" y="1104281"/>
            <a:ext cx="3965986" cy="1072080"/>
          </a:xfrm>
          <a:prstGeom prst="parallelogram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Verwaltungsübersicht mit allen Witzen für Admin</a:t>
            </a:r>
          </a:p>
        </p:txBody>
      </p:sp>
      <p:sp>
        <p:nvSpPr>
          <p:cNvPr id="7" name="Parallelogramm 6">
            <a:extLst>
              <a:ext uri="{FF2B5EF4-FFF2-40B4-BE49-F238E27FC236}">
                <a16:creationId xmlns:a16="http://schemas.microsoft.com/office/drawing/2014/main" id="{31D5AD3A-DCE8-A609-AF8A-7471C40E3827}"/>
              </a:ext>
            </a:extLst>
          </p:cNvPr>
          <p:cNvSpPr/>
          <p:nvPr/>
        </p:nvSpPr>
        <p:spPr>
          <a:xfrm>
            <a:off x="2441414" y="2341363"/>
            <a:ext cx="4168589" cy="1066817"/>
          </a:xfrm>
          <a:prstGeom prst="parallelogram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User Authentication: Anmeldung als Administrator</a:t>
            </a:r>
          </a:p>
        </p:txBody>
      </p:sp>
      <p:sp>
        <p:nvSpPr>
          <p:cNvPr id="8" name="Parallelogramm 7">
            <a:extLst>
              <a:ext uri="{FF2B5EF4-FFF2-40B4-BE49-F238E27FC236}">
                <a16:creationId xmlns:a16="http://schemas.microsoft.com/office/drawing/2014/main" id="{8230A7FF-7194-8208-EA0C-4EE42AF32D12}"/>
              </a:ext>
            </a:extLst>
          </p:cNvPr>
          <p:cNvSpPr/>
          <p:nvPr/>
        </p:nvSpPr>
        <p:spPr>
          <a:xfrm>
            <a:off x="7291321" y="2336100"/>
            <a:ext cx="3965986" cy="1072080"/>
          </a:xfrm>
          <a:prstGeom prst="parallelogram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User-Management: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Neuregistrierung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Rollen (Admin vs. Standard)</a:t>
            </a:r>
          </a:p>
        </p:txBody>
      </p:sp>
      <p:sp>
        <p:nvSpPr>
          <p:cNvPr id="9" name="Parallelogramm 8">
            <a:extLst>
              <a:ext uri="{FF2B5EF4-FFF2-40B4-BE49-F238E27FC236}">
                <a16:creationId xmlns:a16="http://schemas.microsoft.com/office/drawing/2014/main" id="{EC159AA2-EC47-5780-1299-2C4D3AF297F7}"/>
              </a:ext>
            </a:extLst>
          </p:cNvPr>
          <p:cNvSpPr/>
          <p:nvPr/>
        </p:nvSpPr>
        <p:spPr>
          <a:xfrm>
            <a:off x="2223244" y="3570550"/>
            <a:ext cx="4105836" cy="733313"/>
          </a:xfrm>
          <a:prstGeom prst="parallelogram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GUI auf Englisch und Deutsch</a:t>
            </a:r>
          </a:p>
        </p:txBody>
      </p:sp>
      <p:sp>
        <p:nvSpPr>
          <p:cNvPr id="11" name="Parallelogramm 10">
            <a:extLst>
              <a:ext uri="{FF2B5EF4-FFF2-40B4-BE49-F238E27FC236}">
                <a16:creationId xmlns:a16="http://schemas.microsoft.com/office/drawing/2014/main" id="{9C5523EF-D9A9-1229-74F2-D52A4A1EB82D}"/>
              </a:ext>
            </a:extLst>
          </p:cNvPr>
          <p:cNvSpPr/>
          <p:nvPr/>
        </p:nvSpPr>
        <p:spPr>
          <a:xfrm>
            <a:off x="7094095" y="3570550"/>
            <a:ext cx="3887670" cy="733313"/>
          </a:xfrm>
          <a:prstGeom prst="parallelogram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Witz-Übersetzung</a:t>
            </a:r>
          </a:p>
        </p:txBody>
      </p:sp>
      <p:sp>
        <p:nvSpPr>
          <p:cNvPr id="12" name="Parallelogramm 11">
            <a:extLst>
              <a:ext uri="{FF2B5EF4-FFF2-40B4-BE49-F238E27FC236}">
                <a16:creationId xmlns:a16="http://schemas.microsoft.com/office/drawing/2014/main" id="{04DD49A1-28D1-F610-F555-4556968E2896}"/>
              </a:ext>
            </a:extLst>
          </p:cNvPr>
          <p:cNvSpPr/>
          <p:nvPr/>
        </p:nvSpPr>
        <p:spPr>
          <a:xfrm>
            <a:off x="2034988" y="4466233"/>
            <a:ext cx="4105836" cy="733313"/>
          </a:xfrm>
          <a:prstGeom prst="parallelogram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Light </a:t>
            </a:r>
            <a:r>
              <a:rPr lang="de-DE" dirty="0" err="1">
                <a:solidFill>
                  <a:schemeClr val="tx1"/>
                </a:solidFill>
              </a:rPr>
              <a:t>Theme</a:t>
            </a:r>
            <a:r>
              <a:rPr lang="de-DE" dirty="0">
                <a:solidFill>
                  <a:schemeClr val="tx1"/>
                </a:solidFill>
              </a:rPr>
              <a:t> und Dark </a:t>
            </a:r>
            <a:r>
              <a:rPr lang="de-DE" dirty="0" err="1">
                <a:solidFill>
                  <a:schemeClr val="tx1"/>
                </a:solidFill>
              </a:rPr>
              <a:t>Theme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3" name="Parallelogramm 12">
            <a:extLst>
              <a:ext uri="{FF2B5EF4-FFF2-40B4-BE49-F238E27FC236}">
                <a16:creationId xmlns:a16="http://schemas.microsoft.com/office/drawing/2014/main" id="{B51F4D53-250D-C21D-F7A8-4966807A61A7}"/>
              </a:ext>
            </a:extLst>
          </p:cNvPr>
          <p:cNvSpPr/>
          <p:nvPr/>
        </p:nvSpPr>
        <p:spPr>
          <a:xfrm>
            <a:off x="1846730" y="5361916"/>
            <a:ext cx="4105836" cy="733313"/>
          </a:xfrm>
          <a:prstGeom prst="parallelogram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Health-Check</a:t>
            </a:r>
          </a:p>
        </p:txBody>
      </p:sp>
      <p:pic>
        <p:nvPicPr>
          <p:cNvPr id="14" name="Grafik 13" descr="Häkchen mit einfarbiger Füllung">
            <a:extLst>
              <a:ext uri="{FF2B5EF4-FFF2-40B4-BE49-F238E27FC236}">
                <a16:creationId xmlns:a16="http://schemas.microsoft.com/office/drawing/2014/main" id="{0FB2D5BB-B706-103C-AFBD-55E9F91310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3998" y="5180829"/>
            <a:ext cx="914400" cy="914400"/>
          </a:xfrm>
          <a:prstGeom prst="rect">
            <a:avLst/>
          </a:prstGeom>
        </p:spPr>
      </p:pic>
      <p:pic>
        <p:nvPicPr>
          <p:cNvPr id="15" name="Grafik 14" descr="Schließen mit einfarbiger Füllung">
            <a:extLst>
              <a:ext uri="{FF2B5EF4-FFF2-40B4-BE49-F238E27FC236}">
                <a16:creationId xmlns:a16="http://schemas.microsoft.com/office/drawing/2014/main" id="{A5DD57D2-4315-7168-5A43-AC11025571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42907" y="344982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8319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5FE5C-8DA0-0AF8-6048-229F5FC01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39010-DE77-F825-A39F-D1F05EAC5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Live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7033E-0461-F257-34C5-3560FBF25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marL="0" indent="0">
              <a:buNone/>
            </a:pP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10B9FA-D23A-4756-A742-C594E9C91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8</a:t>
            </a:fld>
            <a:endParaRPr lang="en-US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A247882-0FB1-A798-B62C-145C83A831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6" r="830"/>
          <a:stretch>
            <a:fillRect/>
          </a:stretch>
        </p:blipFill>
        <p:spPr>
          <a:xfrm>
            <a:off x="20" y="10"/>
            <a:ext cx="12191980" cy="634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124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EA72A-376A-7A9A-14FE-2B1AC5A30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87ABF-C348-3967-74F6-C3CB808A5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ea typeface="Calibri Light"/>
                <a:cs typeface="Calibri Light"/>
              </a:rPr>
              <a:t>SonarCloud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2C66A-4556-7E09-0A47-29E91525A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87428" cy="4371702"/>
          </a:xfrm>
        </p:spPr>
        <p:txBody>
          <a:bodyPr vert="horz" lIns="0" tIns="45720" rIns="0" bIns="45720" rtlCol="0" anchor="t">
            <a:normAutofit fontScale="85000" lnSpcReduction="20000"/>
          </a:bodyPr>
          <a:lstStyle/>
          <a:p>
            <a:pPr marL="0" indent="0">
              <a:buNone/>
            </a:pPr>
            <a:endParaRPr lang="en-US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>
                <a:ea typeface="+mn-lt"/>
                <a:cs typeface="+mn-lt"/>
                <a:hlinkClick r:id="rId3"/>
              </a:rPr>
              <a:t>https://sonarcloud.io/summary/overall?id=MiChillDev_sqs-project&amp;branch=main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3B102B-1D1E-ECF7-3E44-51ED56244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9</a:t>
            </a:fld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3C172B3-E974-E3CE-A6D2-1245CA70A9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665" y="2016385"/>
            <a:ext cx="8102931" cy="372269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01426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D2C5C-9632-52EE-A8F4-823AED08D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0EA3-76E5-92CB-E518-25CADCE27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Calibri Light"/>
                <a:cs typeface="Calibri Light"/>
              </a:rPr>
              <a:t>Monorepo-Projektstruktur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DDC0A-6BB9-8745-0060-62172543D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10</a:t>
            </a:fld>
            <a:endParaRPr lang="en-US"/>
          </a:p>
        </p:txBody>
      </p:sp>
      <p:pic>
        <p:nvPicPr>
          <p:cNvPr id="6" name="Content Placeholder 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3B00CA50-A570-40AD-E331-A3F11CCD4A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87432" y="1848235"/>
            <a:ext cx="2304449" cy="436299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Kreis: nicht ausgefüllt 9">
            <a:extLst>
              <a:ext uri="{FF2B5EF4-FFF2-40B4-BE49-F238E27FC236}">
                <a16:creationId xmlns:a16="http://schemas.microsoft.com/office/drawing/2014/main" id="{EE051FE1-F668-7992-8AC7-CCCC7F32D3A2}"/>
              </a:ext>
            </a:extLst>
          </p:cNvPr>
          <p:cNvSpPr/>
          <p:nvPr/>
        </p:nvSpPr>
        <p:spPr>
          <a:xfrm>
            <a:off x="2234593" y="1988317"/>
            <a:ext cx="2001847" cy="436101"/>
          </a:xfrm>
          <a:prstGeom prst="donut">
            <a:avLst>
              <a:gd name="adj" fmla="val 1128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2" name="Kreis: nicht ausgefüllt 11">
            <a:extLst>
              <a:ext uri="{FF2B5EF4-FFF2-40B4-BE49-F238E27FC236}">
                <a16:creationId xmlns:a16="http://schemas.microsoft.com/office/drawing/2014/main" id="{26A2C663-A0B4-E879-CC14-BB518E590DDC}"/>
              </a:ext>
            </a:extLst>
          </p:cNvPr>
          <p:cNvSpPr/>
          <p:nvPr/>
        </p:nvSpPr>
        <p:spPr>
          <a:xfrm>
            <a:off x="2234593" y="5158285"/>
            <a:ext cx="2780145" cy="1052945"/>
          </a:xfrm>
          <a:prstGeom prst="donut">
            <a:avLst>
              <a:gd name="adj" fmla="val 481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1913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0D73D-B49E-3490-1438-E3FE4CDE5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D546B-27E8-D6C5-B5B7-F469FF160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Calibri Light"/>
                <a:cs typeface="Calibri Light"/>
              </a:rPr>
              <a:t>Monorepo-Projektstruktur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8FF0D7-E103-414B-9776-F4862B337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11</a:t>
            </a:fld>
            <a:endParaRPr lang="en-US"/>
          </a:p>
        </p:txBody>
      </p:sp>
      <p:pic>
        <p:nvPicPr>
          <p:cNvPr id="6" name="Content Placeholder 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57AAB71A-CF44-ACEC-15BE-513D6434F7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87432" y="1848235"/>
            <a:ext cx="2304449" cy="436299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Kreis: nicht ausgefüllt 9">
            <a:extLst>
              <a:ext uri="{FF2B5EF4-FFF2-40B4-BE49-F238E27FC236}">
                <a16:creationId xmlns:a16="http://schemas.microsoft.com/office/drawing/2014/main" id="{787FFB0B-9C52-7E83-A5D4-DCE8D92875D7}"/>
              </a:ext>
            </a:extLst>
          </p:cNvPr>
          <p:cNvSpPr/>
          <p:nvPr/>
        </p:nvSpPr>
        <p:spPr>
          <a:xfrm>
            <a:off x="2234593" y="2239987"/>
            <a:ext cx="2245127" cy="595492"/>
          </a:xfrm>
          <a:prstGeom prst="donut">
            <a:avLst>
              <a:gd name="adj" fmla="val 1128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05789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C9D84-FCE5-C7DE-58ED-9C7A51A13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B8B08-B416-BC3F-B02B-8F696579D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Calibri Light"/>
                <a:cs typeface="Calibri Light"/>
              </a:rPr>
              <a:t>Monorepo-Projektstruktur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4AD17-1BC3-886B-3B5F-4E0EF9D5E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12</a:t>
            </a:fld>
            <a:endParaRPr lang="en-US"/>
          </a:p>
        </p:txBody>
      </p:sp>
      <p:pic>
        <p:nvPicPr>
          <p:cNvPr id="6" name="Content Placeholder 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8884098D-4AB9-9867-D240-3B3399C243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87432" y="1848235"/>
            <a:ext cx="2304449" cy="436299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Kreis: nicht ausgefüllt 9">
            <a:extLst>
              <a:ext uri="{FF2B5EF4-FFF2-40B4-BE49-F238E27FC236}">
                <a16:creationId xmlns:a16="http://schemas.microsoft.com/office/drawing/2014/main" id="{B26844CC-A24D-F5E0-F86B-9B4FBD1DF680}"/>
              </a:ext>
            </a:extLst>
          </p:cNvPr>
          <p:cNvSpPr/>
          <p:nvPr/>
        </p:nvSpPr>
        <p:spPr>
          <a:xfrm>
            <a:off x="2234594" y="2575547"/>
            <a:ext cx="2005560" cy="509666"/>
          </a:xfrm>
          <a:prstGeom prst="donut">
            <a:avLst>
              <a:gd name="adj" fmla="val 1128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03825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D41E2-CD29-8A15-14FB-470AB6189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arallelogramm 12">
            <a:extLst>
              <a:ext uri="{FF2B5EF4-FFF2-40B4-BE49-F238E27FC236}">
                <a16:creationId xmlns:a16="http://schemas.microsoft.com/office/drawing/2014/main" id="{4A9958E6-A8CB-D0DC-5B78-46D6A0D4992D}"/>
              </a:ext>
            </a:extLst>
          </p:cNvPr>
          <p:cNvSpPr/>
          <p:nvPr/>
        </p:nvSpPr>
        <p:spPr>
          <a:xfrm>
            <a:off x="3639656" y="3802614"/>
            <a:ext cx="5577231" cy="471763"/>
          </a:xfrm>
          <a:prstGeom prst="parallelogram">
            <a:avLst/>
          </a:prstGeom>
          <a:solidFill>
            <a:srgbClr val="151B2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DE" dirty="0"/>
              <a:t>Einfache Analyse bei </a:t>
            </a:r>
            <a:r>
              <a:rPr lang="de-DE" dirty="0" err="1"/>
              <a:t>SonarQube</a:t>
            </a:r>
            <a:endParaRPr lang="de-DE" dirty="0"/>
          </a:p>
        </p:txBody>
      </p:sp>
      <p:sp>
        <p:nvSpPr>
          <p:cNvPr id="7" name="Parallelogramm 6">
            <a:extLst>
              <a:ext uri="{FF2B5EF4-FFF2-40B4-BE49-F238E27FC236}">
                <a16:creationId xmlns:a16="http://schemas.microsoft.com/office/drawing/2014/main" id="{A1457C3B-E5D1-1930-B892-E83678432F78}"/>
              </a:ext>
            </a:extLst>
          </p:cNvPr>
          <p:cNvSpPr/>
          <p:nvPr/>
        </p:nvSpPr>
        <p:spPr>
          <a:xfrm>
            <a:off x="4448292" y="4452081"/>
            <a:ext cx="4768596" cy="471763"/>
          </a:xfrm>
          <a:prstGeom prst="parallelogram">
            <a:avLst/>
          </a:prstGeom>
          <a:solidFill>
            <a:srgbClr val="151B2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DE" dirty="0"/>
              <a:t>Eine CI-Pipeline mit getrennten </a:t>
            </a:r>
            <a:r>
              <a:rPr lang="de-DE" dirty="0" err="1"/>
              <a:t>Steps</a:t>
            </a:r>
            <a:endParaRPr lang="de-DE" dirty="0"/>
          </a:p>
        </p:txBody>
      </p:sp>
      <p:sp>
        <p:nvSpPr>
          <p:cNvPr id="9" name="Parallelogramm 8">
            <a:extLst>
              <a:ext uri="{FF2B5EF4-FFF2-40B4-BE49-F238E27FC236}">
                <a16:creationId xmlns:a16="http://schemas.microsoft.com/office/drawing/2014/main" id="{DF66C77E-B900-E7E0-DF7E-DF4557A617EE}"/>
              </a:ext>
            </a:extLst>
          </p:cNvPr>
          <p:cNvSpPr/>
          <p:nvPr/>
        </p:nvSpPr>
        <p:spPr>
          <a:xfrm>
            <a:off x="4448293" y="5727840"/>
            <a:ext cx="5027857" cy="471763"/>
          </a:xfrm>
          <a:prstGeom prst="parallelogram">
            <a:avLst/>
          </a:prstGeom>
          <a:solidFill>
            <a:srgbClr val="151B2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DE" dirty="0"/>
              <a:t>Bei API-Änderungen nur ein Commit nötig</a:t>
            </a:r>
          </a:p>
        </p:txBody>
      </p:sp>
      <p:sp>
        <p:nvSpPr>
          <p:cNvPr id="5" name="Parallelogramm 4">
            <a:extLst>
              <a:ext uri="{FF2B5EF4-FFF2-40B4-BE49-F238E27FC236}">
                <a16:creationId xmlns:a16="http://schemas.microsoft.com/office/drawing/2014/main" id="{9B4F6A64-1F85-76D6-4F0B-FBA06AE92821}"/>
              </a:ext>
            </a:extLst>
          </p:cNvPr>
          <p:cNvSpPr/>
          <p:nvPr/>
        </p:nvSpPr>
        <p:spPr>
          <a:xfrm>
            <a:off x="3151645" y="5100662"/>
            <a:ext cx="6177670" cy="479111"/>
          </a:xfrm>
          <a:prstGeom prst="parallelogram">
            <a:avLst/>
          </a:prstGeom>
          <a:solidFill>
            <a:srgbClr val="151B2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DE" dirty="0"/>
              <a:t>Kein Version-Alignment </a:t>
            </a:r>
          </a:p>
        </p:txBody>
      </p:sp>
      <p:sp>
        <p:nvSpPr>
          <p:cNvPr id="8" name="Parallelogramm 7">
            <a:extLst>
              <a:ext uri="{FF2B5EF4-FFF2-40B4-BE49-F238E27FC236}">
                <a16:creationId xmlns:a16="http://schemas.microsoft.com/office/drawing/2014/main" id="{9574E8A6-0977-93E4-57E2-FCC9072ECF41}"/>
              </a:ext>
            </a:extLst>
          </p:cNvPr>
          <p:cNvSpPr/>
          <p:nvPr/>
        </p:nvSpPr>
        <p:spPr>
          <a:xfrm>
            <a:off x="4448292" y="3162600"/>
            <a:ext cx="4566229" cy="471763"/>
          </a:xfrm>
          <a:prstGeom prst="parallelogram">
            <a:avLst/>
          </a:prstGeom>
          <a:solidFill>
            <a:srgbClr val="151B2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DE" dirty="0"/>
              <a:t>Alles auf einen Blick</a:t>
            </a:r>
          </a:p>
        </p:txBody>
      </p:sp>
      <p:sp>
        <p:nvSpPr>
          <p:cNvPr id="3" name="Parallelogramm 2">
            <a:extLst>
              <a:ext uri="{FF2B5EF4-FFF2-40B4-BE49-F238E27FC236}">
                <a16:creationId xmlns:a16="http://schemas.microsoft.com/office/drawing/2014/main" id="{FF9BF1DB-CFD5-85AE-F34D-50FACCDB7C19}"/>
              </a:ext>
            </a:extLst>
          </p:cNvPr>
          <p:cNvSpPr/>
          <p:nvPr/>
        </p:nvSpPr>
        <p:spPr>
          <a:xfrm>
            <a:off x="4631647" y="2509793"/>
            <a:ext cx="4180507" cy="475103"/>
          </a:xfrm>
          <a:prstGeom prst="parallelogram">
            <a:avLst/>
          </a:prstGeom>
          <a:solidFill>
            <a:srgbClr val="151B2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DE" dirty="0"/>
              <a:t>Weniger Overhead / Koordination </a:t>
            </a:r>
          </a:p>
        </p:txBody>
      </p:sp>
      <p:sp>
        <p:nvSpPr>
          <p:cNvPr id="11" name="Parallelogramm 10">
            <a:extLst>
              <a:ext uri="{FF2B5EF4-FFF2-40B4-BE49-F238E27FC236}">
                <a16:creationId xmlns:a16="http://schemas.microsoft.com/office/drawing/2014/main" id="{A523F47C-7A6F-0374-C118-3648DF64DB9A}"/>
              </a:ext>
            </a:extLst>
          </p:cNvPr>
          <p:cNvSpPr/>
          <p:nvPr/>
        </p:nvSpPr>
        <p:spPr>
          <a:xfrm>
            <a:off x="4589442" y="1856186"/>
            <a:ext cx="4080306" cy="472563"/>
          </a:xfrm>
          <a:prstGeom prst="parallelogram">
            <a:avLst/>
          </a:prstGeom>
          <a:solidFill>
            <a:srgbClr val="151B2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DE" dirty="0"/>
              <a:t>Kleines Projekt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10605E-F191-E091-EA02-EF0352556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Calibri Light"/>
                <a:cs typeface="Calibri Light"/>
              </a:rPr>
              <a:t>Monorepo-Projektstruktur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F9FC0F-406F-9572-781D-0D17DC567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13</a:t>
            </a:fld>
            <a:endParaRPr lang="en-US"/>
          </a:p>
        </p:txBody>
      </p:sp>
      <p:pic>
        <p:nvPicPr>
          <p:cNvPr id="6" name="Content Placeholder 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3E57C523-73F6-756D-51A4-E81B7C25D0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87432" y="1848235"/>
            <a:ext cx="2304449" cy="436299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Kreis: nicht ausgefüllt 9">
            <a:extLst>
              <a:ext uri="{FF2B5EF4-FFF2-40B4-BE49-F238E27FC236}">
                <a16:creationId xmlns:a16="http://schemas.microsoft.com/office/drawing/2014/main" id="{93DAEEE1-2D8B-F2AC-C12B-693095A20326}"/>
              </a:ext>
            </a:extLst>
          </p:cNvPr>
          <p:cNvSpPr/>
          <p:nvPr/>
        </p:nvSpPr>
        <p:spPr>
          <a:xfrm>
            <a:off x="2234594" y="2911107"/>
            <a:ext cx="2005560" cy="509666"/>
          </a:xfrm>
          <a:prstGeom prst="donut">
            <a:avLst>
              <a:gd name="adj" fmla="val 1128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93515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7" grpId="0" animBg="1"/>
      <p:bldP spid="9" grpId="0" animBg="1"/>
      <p:bldP spid="5" grpId="0" animBg="1"/>
      <p:bldP spid="8" grpId="0" animBg="1"/>
      <p:bldP spid="3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42F7B-3BB0-3CAA-E454-FBFA9EF80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arallelogramm 12">
            <a:extLst>
              <a:ext uri="{FF2B5EF4-FFF2-40B4-BE49-F238E27FC236}">
                <a16:creationId xmlns:a16="http://schemas.microsoft.com/office/drawing/2014/main" id="{33ABECA8-D1AF-DEE9-5111-37B28F31C243}"/>
              </a:ext>
            </a:extLst>
          </p:cNvPr>
          <p:cNvSpPr/>
          <p:nvPr/>
        </p:nvSpPr>
        <p:spPr>
          <a:xfrm>
            <a:off x="3639656" y="3802614"/>
            <a:ext cx="5577231" cy="471763"/>
          </a:xfrm>
          <a:prstGeom prst="parallelogram">
            <a:avLst/>
          </a:prstGeom>
          <a:solidFill>
            <a:srgbClr val="151B2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DE" dirty="0"/>
              <a:t>Einfache Analyse bei </a:t>
            </a:r>
            <a:r>
              <a:rPr lang="de-DE" dirty="0" err="1"/>
              <a:t>SonarQube</a:t>
            </a:r>
            <a:endParaRPr lang="de-DE" dirty="0"/>
          </a:p>
        </p:txBody>
      </p:sp>
      <p:sp>
        <p:nvSpPr>
          <p:cNvPr id="7" name="Parallelogramm 6">
            <a:extLst>
              <a:ext uri="{FF2B5EF4-FFF2-40B4-BE49-F238E27FC236}">
                <a16:creationId xmlns:a16="http://schemas.microsoft.com/office/drawing/2014/main" id="{3195220B-16F8-AB5F-D919-21CF5EBE57A3}"/>
              </a:ext>
            </a:extLst>
          </p:cNvPr>
          <p:cNvSpPr/>
          <p:nvPr/>
        </p:nvSpPr>
        <p:spPr>
          <a:xfrm>
            <a:off x="4448292" y="4452081"/>
            <a:ext cx="4768596" cy="471763"/>
          </a:xfrm>
          <a:prstGeom prst="parallelogram">
            <a:avLst/>
          </a:prstGeom>
          <a:solidFill>
            <a:srgbClr val="151B2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DE" dirty="0"/>
              <a:t>Eine CI-Pipeline mit getrennten </a:t>
            </a:r>
            <a:r>
              <a:rPr lang="de-DE" dirty="0" err="1"/>
              <a:t>Steps</a:t>
            </a:r>
            <a:endParaRPr lang="de-DE" dirty="0"/>
          </a:p>
        </p:txBody>
      </p:sp>
      <p:sp>
        <p:nvSpPr>
          <p:cNvPr id="9" name="Parallelogramm 8">
            <a:extLst>
              <a:ext uri="{FF2B5EF4-FFF2-40B4-BE49-F238E27FC236}">
                <a16:creationId xmlns:a16="http://schemas.microsoft.com/office/drawing/2014/main" id="{5BCA6C1E-BB3E-59A9-AB5E-323F6E688563}"/>
              </a:ext>
            </a:extLst>
          </p:cNvPr>
          <p:cNvSpPr/>
          <p:nvPr/>
        </p:nvSpPr>
        <p:spPr>
          <a:xfrm>
            <a:off x="4448293" y="5727840"/>
            <a:ext cx="5027857" cy="471763"/>
          </a:xfrm>
          <a:prstGeom prst="parallelogram">
            <a:avLst/>
          </a:prstGeom>
          <a:solidFill>
            <a:srgbClr val="151B2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DE" dirty="0"/>
              <a:t>Bei API-Änderungen nur ein Commit nötig</a:t>
            </a:r>
          </a:p>
        </p:txBody>
      </p:sp>
      <p:sp>
        <p:nvSpPr>
          <p:cNvPr id="5" name="Parallelogramm 4">
            <a:extLst>
              <a:ext uri="{FF2B5EF4-FFF2-40B4-BE49-F238E27FC236}">
                <a16:creationId xmlns:a16="http://schemas.microsoft.com/office/drawing/2014/main" id="{0C8CCF15-60BB-8742-E5FE-39730B9F7F14}"/>
              </a:ext>
            </a:extLst>
          </p:cNvPr>
          <p:cNvSpPr/>
          <p:nvPr/>
        </p:nvSpPr>
        <p:spPr>
          <a:xfrm>
            <a:off x="3151645" y="5100662"/>
            <a:ext cx="6177670" cy="479111"/>
          </a:xfrm>
          <a:prstGeom prst="parallelogram">
            <a:avLst/>
          </a:prstGeom>
          <a:solidFill>
            <a:srgbClr val="151B2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DE" dirty="0"/>
              <a:t>Kein Version-Alignment </a:t>
            </a:r>
          </a:p>
        </p:txBody>
      </p:sp>
      <p:sp>
        <p:nvSpPr>
          <p:cNvPr id="8" name="Parallelogramm 7">
            <a:extLst>
              <a:ext uri="{FF2B5EF4-FFF2-40B4-BE49-F238E27FC236}">
                <a16:creationId xmlns:a16="http://schemas.microsoft.com/office/drawing/2014/main" id="{A38268D2-554A-6BFA-5AF6-F68B379B17FB}"/>
              </a:ext>
            </a:extLst>
          </p:cNvPr>
          <p:cNvSpPr/>
          <p:nvPr/>
        </p:nvSpPr>
        <p:spPr>
          <a:xfrm>
            <a:off x="4448292" y="3162600"/>
            <a:ext cx="4566229" cy="471763"/>
          </a:xfrm>
          <a:prstGeom prst="parallelogram">
            <a:avLst/>
          </a:prstGeom>
          <a:solidFill>
            <a:srgbClr val="151B2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DE" dirty="0"/>
              <a:t>Alles auf einen Blick</a:t>
            </a:r>
          </a:p>
        </p:txBody>
      </p:sp>
      <p:sp>
        <p:nvSpPr>
          <p:cNvPr id="3" name="Parallelogramm 2">
            <a:extLst>
              <a:ext uri="{FF2B5EF4-FFF2-40B4-BE49-F238E27FC236}">
                <a16:creationId xmlns:a16="http://schemas.microsoft.com/office/drawing/2014/main" id="{54989141-0E52-2CBB-8FB2-4167FA6EC5E3}"/>
              </a:ext>
            </a:extLst>
          </p:cNvPr>
          <p:cNvSpPr/>
          <p:nvPr/>
        </p:nvSpPr>
        <p:spPr>
          <a:xfrm>
            <a:off x="4631647" y="2509793"/>
            <a:ext cx="4180507" cy="475103"/>
          </a:xfrm>
          <a:prstGeom prst="parallelogram">
            <a:avLst/>
          </a:prstGeom>
          <a:solidFill>
            <a:srgbClr val="151B2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DE" dirty="0"/>
              <a:t>Weniger Overhead / Koordination </a:t>
            </a:r>
          </a:p>
        </p:txBody>
      </p:sp>
      <p:sp>
        <p:nvSpPr>
          <p:cNvPr id="11" name="Parallelogramm 10">
            <a:extLst>
              <a:ext uri="{FF2B5EF4-FFF2-40B4-BE49-F238E27FC236}">
                <a16:creationId xmlns:a16="http://schemas.microsoft.com/office/drawing/2014/main" id="{E1E646AF-3A2A-27DC-C664-6110F3647355}"/>
              </a:ext>
            </a:extLst>
          </p:cNvPr>
          <p:cNvSpPr/>
          <p:nvPr/>
        </p:nvSpPr>
        <p:spPr>
          <a:xfrm>
            <a:off x="4589442" y="1856186"/>
            <a:ext cx="4080306" cy="472563"/>
          </a:xfrm>
          <a:prstGeom prst="parallelogram">
            <a:avLst/>
          </a:prstGeom>
          <a:solidFill>
            <a:srgbClr val="151B2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DE" dirty="0"/>
              <a:t>Kleines Projekt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B41E58-37DA-22A1-93B5-9049EFD0A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Calibri Light"/>
                <a:cs typeface="Calibri Light"/>
              </a:rPr>
              <a:t>Monorepo-Projektstruktur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CAA562-D35A-FCA7-BF60-EB2D00DC1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14</a:t>
            </a:fld>
            <a:endParaRPr lang="en-US"/>
          </a:p>
        </p:txBody>
      </p:sp>
      <p:pic>
        <p:nvPicPr>
          <p:cNvPr id="6" name="Content Placeholder 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5EE42361-DC77-3184-4160-5EF2A57DDF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87432" y="1848235"/>
            <a:ext cx="2304449" cy="436299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Kreis: nicht ausgefüllt 9">
            <a:extLst>
              <a:ext uri="{FF2B5EF4-FFF2-40B4-BE49-F238E27FC236}">
                <a16:creationId xmlns:a16="http://schemas.microsoft.com/office/drawing/2014/main" id="{D21F94B8-7B50-3DC6-46E0-279732EEE7E6}"/>
              </a:ext>
            </a:extLst>
          </p:cNvPr>
          <p:cNvSpPr/>
          <p:nvPr/>
        </p:nvSpPr>
        <p:spPr>
          <a:xfrm>
            <a:off x="2234593" y="3305389"/>
            <a:ext cx="2397053" cy="968987"/>
          </a:xfrm>
          <a:prstGeom prst="donut">
            <a:avLst>
              <a:gd name="adj" fmla="val 608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53884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2C6B3-B364-C033-1B73-07759EC9B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arallelogramm 12">
            <a:extLst>
              <a:ext uri="{FF2B5EF4-FFF2-40B4-BE49-F238E27FC236}">
                <a16:creationId xmlns:a16="http://schemas.microsoft.com/office/drawing/2014/main" id="{036C4D39-C7DA-F6A8-F809-E69304DA3427}"/>
              </a:ext>
            </a:extLst>
          </p:cNvPr>
          <p:cNvSpPr/>
          <p:nvPr/>
        </p:nvSpPr>
        <p:spPr>
          <a:xfrm>
            <a:off x="3639656" y="3802614"/>
            <a:ext cx="5577231" cy="471763"/>
          </a:xfrm>
          <a:prstGeom prst="parallelogram">
            <a:avLst/>
          </a:prstGeom>
          <a:solidFill>
            <a:srgbClr val="151B2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DE" dirty="0"/>
              <a:t>Einfache Analyse bei </a:t>
            </a:r>
            <a:r>
              <a:rPr lang="de-DE" dirty="0" err="1"/>
              <a:t>SonarQube</a:t>
            </a:r>
            <a:endParaRPr lang="de-DE" dirty="0"/>
          </a:p>
        </p:txBody>
      </p:sp>
      <p:sp>
        <p:nvSpPr>
          <p:cNvPr id="7" name="Parallelogramm 6">
            <a:extLst>
              <a:ext uri="{FF2B5EF4-FFF2-40B4-BE49-F238E27FC236}">
                <a16:creationId xmlns:a16="http://schemas.microsoft.com/office/drawing/2014/main" id="{BBC01CF4-EF1A-37F6-DC25-7B16FC64177F}"/>
              </a:ext>
            </a:extLst>
          </p:cNvPr>
          <p:cNvSpPr/>
          <p:nvPr/>
        </p:nvSpPr>
        <p:spPr>
          <a:xfrm>
            <a:off x="4448292" y="4452081"/>
            <a:ext cx="4768596" cy="471763"/>
          </a:xfrm>
          <a:prstGeom prst="parallelogram">
            <a:avLst/>
          </a:prstGeom>
          <a:solidFill>
            <a:srgbClr val="151B2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DE" dirty="0"/>
              <a:t>Eine CI-Pipeline mit getrennten </a:t>
            </a:r>
            <a:r>
              <a:rPr lang="de-DE" dirty="0" err="1"/>
              <a:t>Steps</a:t>
            </a:r>
            <a:endParaRPr lang="de-DE" dirty="0"/>
          </a:p>
        </p:txBody>
      </p:sp>
      <p:sp>
        <p:nvSpPr>
          <p:cNvPr id="9" name="Parallelogramm 8">
            <a:extLst>
              <a:ext uri="{FF2B5EF4-FFF2-40B4-BE49-F238E27FC236}">
                <a16:creationId xmlns:a16="http://schemas.microsoft.com/office/drawing/2014/main" id="{036F2B97-4C0F-DD4A-2B34-B290A99584F5}"/>
              </a:ext>
            </a:extLst>
          </p:cNvPr>
          <p:cNvSpPr/>
          <p:nvPr/>
        </p:nvSpPr>
        <p:spPr>
          <a:xfrm>
            <a:off x="4448293" y="5727840"/>
            <a:ext cx="5027857" cy="471763"/>
          </a:xfrm>
          <a:prstGeom prst="parallelogram">
            <a:avLst/>
          </a:prstGeom>
          <a:solidFill>
            <a:srgbClr val="151B2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DE" dirty="0"/>
              <a:t>Bei API-Änderungen nur ein Commit nötig</a:t>
            </a:r>
          </a:p>
        </p:txBody>
      </p:sp>
      <p:sp>
        <p:nvSpPr>
          <p:cNvPr id="5" name="Parallelogramm 4">
            <a:extLst>
              <a:ext uri="{FF2B5EF4-FFF2-40B4-BE49-F238E27FC236}">
                <a16:creationId xmlns:a16="http://schemas.microsoft.com/office/drawing/2014/main" id="{17D65520-DEBA-18E9-9B72-83B7007339A5}"/>
              </a:ext>
            </a:extLst>
          </p:cNvPr>
          <p:cNvSpPr/>
          <p:nvPr/>
        </p:nvSpPr>
        <p:spPr>
          <a:xfrm>
            <a:off x="3151645" y="5100662"/>
            <a:ext cx="6177670" cy="479111"/>
          </a:xfrm>
          <a:prstGeom prst="parallelogram">
            <a:avLst/>
          </a:prstGeom>
          <a:solidFill>
            <a:srgbClr val="151B2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DE" dirty="0"/>
              <a:t>Kein Version-Alignment </a:t>
            </a:r>
          </a:p>
        </p:txBody>
      </p:sp>
      <p:sp>
        <p:nvSpPr>
          <p:cNvPr id="8" name="Parallelogramm 7">
            <a:extLst>
              <a:ext uri="{FF2B5EF4-FFF2-40B4-BE49-F238E27FC236}">
                <a16:creationId xmlns:a16="http://schemas.microsoft.com/office/drawing/2014/main" id="{967C186C-88FB-E437-2E54-D095443185A7}"/>
              </a:ext>
            </a:extLst>
          </p:cNvPr>
          <p:cNvSpPr/>
          <p:nvPr/>
        </p:nvSpPr>
        <p:spPr>
          <a:xfrm>
            <a:off x="4448292" y="3162600"/>
            <a:ext cx="4566229" cy="471763"/>
          </a:xfrm>
          <a:prstGeom prst="parallelogram">
            <a:avLst/>
          </a:prstGeom>
          <a:solidFill>
            <a:srgbClr val="151B2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DE" dirty="0"/>
              <a:t>Alles auf einen Blick</a:t>
            </a:r>
          </a:p>
        </p:txBody>
      </p:sp>
      <p:sp>
        <p:nvSpPr>
          <p:cNvPr id="3" name="Parallelogramm 2">
            <a:extLst>
              <a:ext uri="{FF2B5EF4-FFF2-40B4-BE49-F238E27FC236}">
                <a16:creationId xmlns:a16="http://schemas.microsoft.com/office/drawing/2014/main" id="{499F5A14-1D54-0588-4C8B-3C3BBED8F566}"/>
              </a:ext>
            </a:extLst>
          </p:cNvPr>
          <p:cNvSpPr/>
          <p:nvPr/>
        </p:nvSpPr>
        <p:spPr>
          <a:xfrm>
            <a:off x="4631647" y="2509793"/>
            <a:ext cx="4180507" cy="475103"/>
          </a:xfrm>
          <a:prstGeom prst="parallelogram">
            <a:avLst/>
          </a:prstGeom>
          <a:solidFill>
            <a:srgbClr val="151B2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DE" dirty="0"/>
              <a:t>Weniger Overhead / Koordination </a:t>
            </a:r>
          </a:p>
        </p:txBody>
      </p:sp>
      <p:sp>
        <p:nvSpPr>
          <p:cNvPr id="11" name="Parallelogramm 10">
            <a:extLst>
              <a:ext uri="{FF2B5EF4-FFF2-40B4-BE49-F238E27FC236}">
                <a16:creationId xmlns:a16="http://schemas.microsoft.com/office/drawing/2014/main" id="{5E5875F1-9B58-5C2D-74EF-B0B1D521733D}"/>
              </a:ext>
            </a:extLst>
          </p:cNvPr>
          <p:cNvSpPr/>
          <p:nvPr/>
        </p:nvSpPr>
        <p:spPr>
          <a:xfrm>
            <a:off x="4589442" y="1856186"/>
            <a:ext cx="4080306" cy="472563"/>
          </a:xfrm>
          <a:prstGeom prst="parallelogram">
            <a:avLst/>
          </a:prstGeom>
          <a:solidFill>
            <a:srgbClr val="151B2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DE" dirty="0"/>
              <a:t>Kleines Projekt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6A0F7C-5BC0-3F1A-8D6C-92BD64C0E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Calibri Light"/>
                <a:cs typeface="Calibri Light"/>
              </a:rPr>
              <a:t>Monorepo-Projektstruktur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56226-163C-0E56-E266-9D2EC4330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15</a:t>
            </a:fld>
            <a:endParaRPr lang="en-US"/>
          </a:p>
        </p:txBody>
      </p:sp>
      <p:pic>
        <p:nvPicPr>
          <p:cNvPr id="6" name="Content Placeholder 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ED885406-47F8-3907-EED1-68E3CBD1C7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87432" y="1848235"/>
            <a:ext cx="2304449" cy="436299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Kreis: nicht ausgefüllt 9">
            <a:extLst>
              <a:ext uri="{FF2B5EF4-FFF2-40B4-BE49-F238E27FC236}">
                <a16:creationId xmlns:a16="http://schemas.microsoft.com/office/drawing/2014/main" id="{521B911C-3CBF-F0DC-FFF9-6805CCD3EE7C}"/>
              </a:ext>
            </a:extLst>
          </p:cNvPr>
          <p:cNvSpPr/>
          <p:nvPr/>
        </p:nvSpPr>
        <p:spPr>
          <a:xfrm>
            <a:off x="2234593" y="4161067"/>
            <a:ext cx="2397053" cy="1207887"/>
          </a:xfrm>
          <a:prstGeom prst="donut">
            <a:avLst>
              <a:gd name="adj" fmla="val 608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42140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0F712-7BB1-0D9F-7B34-C8B6D1C9D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790858DB-98CC-9F61-71F7-57661C2EDBF7}"/>
              </a:ext>
            </a:extLst>
          </p:cNvPr>
          <p:cNvSpPr/>
          <p:nvPr/>
        </p:nvSpPr>
        <p:spPr>
          <a:xfrm>
            <a:off x="1002890" y="1514168"/>
            <a:ext cx="10323871" cy="4522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B4A809F-AD4C-7EBD-DA91-A16395C02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Level 1: </a:t>
            </a:r>
            <a:r>
              <a:rPr lang="de-DE" dirty="0" err="1"/>
              <a:t>Context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55D6B7D-D7D5-1D5B-A4BE-150AEAF5D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16</a:t>
            </a:fld>
            <a:endParaRPr lang="en-US"/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2336BAA5-7D7D-2AF6-DB12-0152782014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867932" y="286603"/>
            <a:ext cx="15988823" cy="762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404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BB48F-D421-F2CA-E815-EA21342DF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E84D801-A735-1311-8536-D0748D89F259}"/>
              </a:ext>
            </a:extLst>
          </p:cNvPr>
          <p:cNvSpPr/>
          <p:nvPr/>
        </p:nvSpPr>
        <p:spPr>
          <a:xfrm>
            <a:off x="1002890" y="1514168"/>
            <a:ext cx="10323871" cy="4522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8345300-7863-82B6-AB41-84FEA50D2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17</a:t>
            </a:fld>
            <a:endParaRPr lang="en-US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DB4465D-1A2F-D828-D8DA-C498881558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760973" y="149160"/>
            <a:ext cx="15410423" cy="7828980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AC30A91D-695B-3B70-9305-06AEB865D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de-DE" dirty="0"/>
              <a:t>Level 2: Containers</a:t>
            </a:r>
          </a:p>
        </p:txBody>
      </p:sp>
    </p:spTree>
    <p:extLst>
      <p:ext uri="{BB962C8B-B14F-4D97-AF65-F5344CB8AC3E}">
        <p14:creationId xmlns:p14="http://schemas.microsoft.com/office/powerpoint/2010/main" val="1166150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BF256-1B63-366A-7245-71B2AEBAC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AC153677-3A19-F7E5-8773-7859581809AF}"/>
              </a:ext>
            </a:extLst>
          </p:cNvPr>
          <p:cNvSpPr/>
          <p:nvPr/>
        </p:nvSpPr>
        <p:spPr>
          <a:xfrm>
            <a:off x="1002890" y="1514168"/>
            <a:ext cx="10323871" cy="4522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2948A3F-C141-0A82-F22E-3679F892F0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92315" y="286603"/>
            <a:ext cx="12776630" cy="6571397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45B6E02-B0CB-F765-598A-6CC650BD4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18</a:t>
            </a:fld>
            <a:endParaRPr lang="en-US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DCFD2399-AC25-F265-DB0E-9D5028C90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726" y="-692289"/>
            <a:ext cx="10058400" cy="1450757"/>
          </a:xfrm>
        </p:spPr>
        <p:txBody>
          <a:bodyPr>
            <a:normAutofit/>
          </a:bodyPr>
          <a:lstStyle/>
          <a:p>
            <a:r>
              <a:rPr lang="de-DE" sz="4000" dirty="0"/>
              <a:t>Level 3: Frontend-Components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99F1B33-D8A6-283A-71E4-38A158D5F8C4}"/>
              </a:ext>
            </a:extLst>
          </p:cNvPr>
          <p:cNvSpPr/>
          <p:nvPr/>
        </p:nvSpPr>
        <p:spPr>
          <a:xfrm>
            <a:off x="-439838" y="6459785"/>
            <a:ext cx="2384385" cy="577623"/>
          </a:xfrm>
          <a:prstGeom prst="rect">
            <a:avLst/>
          </a:prstGeom>
          <a:solidFill>
            <a:srgbClr val="BD58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89695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860BE-0E2D-74E7-DC3B-00D0D2795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AC2C8279-0E6E-FE3E-D1C5-AA94B0C3F5C9}"/>
              </a:ext>
            </a:extLst>
          </p:cNvPr>
          <p:cNvSpPr/>
          <p:nvPr/>
        </p:nvSpPr>
        <p:spPr>
          <a:xfrm>
            <a:off x="1002890" y="1514168"/>
            <a:ext cx="10323871" cy="4522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E0751D0-FFCB-21DE-7C24-2B009C431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19</a:t>
            </a:fld>
            <a:endParaRPr lang="en-US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716B8471-AFA8-263E-B99B-2A6778B004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836805" y="-1093729"/>
            <a:ext cx="13721532" cy="7951730"/>
          </a:xfrm>
          <a:prstGeom prst="rect">
            <a:avLst/>
          </a:prstGeom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55D07E97-AED7-1639-5AF5-E0BE9795697B}"/>
              </a:ext>
            </a:extLst>
          </p:cNvPr>
          <p:cNvSpPr/>
          <p:nvPr/>
        </p:nvSpPr>
        <p:spPr>
          <a:xfrm>
            <a:off x="289727" y="180845"/>
            <a:ext cx="6206608" cy="5776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C2CD5C33-EB96-B960-63B9-EA1A00A28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726" y="-692289"/>
            <a:ext cx="10058400" cy="1450757"/>
          </a:xfrm>
        </p:spPr>
        <p:txBody>
          <a:bodyPr>
            <a:normAutofit/>
          </a:bodyPr>
          <a:lstStyle/>
          <a:p>
            <a:r>
              <a:rPr lang="de-DE" sz="4000" dirty="0"/>
              <a:t>Level 3: Backend-Components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EA89021-FB7D-CA46-E8D3-E2D9B2A8706C}"/>
              </a:ext>
            </a:extLst>
          </p:cNvPr>
          <p:cNvSpPr/>
          <p:nvPr/>
        </p:nvSpPr>
        <p:spPr>
          <a:xfrm>
            <a:off x="-439838" y="6459785"/>
            <a:ext cx="2384385" cy="577623"/>
          </a:xfrm>
          <a:prstGeom prst="rect">
            <a:avLst/>
          </a:prstGeom>
          <a:solidFill>
            <a:srgbClr val="BD58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867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3A673D-EC0B-F1CF-B74F-FC8C5A040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C2579DAE-C141-48DB-810E-C070C3008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2FD90C3-6350-4D5B-9738-6E94EDF30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6B98D24C-3918-F9A3-5F48-4BA4982F216A}"/>
              </a:ext>
            </a:extLst>
          </p:cNvPr>
          <p:cNvSpPr/>
          <p:nvPr/>
        </p:nvSpPr>
        <p:spPr>
          <a:xfrm>
            <a:off x="1047404" y="1504606"/>
            <a:ext cx="10332720" cy="282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33A4885D-FB7B-FABA-E7A3-F27F9796E1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6248" y="1422472"/>
            <a:ext cx="11679504" cy="4247224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2BC366B-BF06-E275-3B14-D238215C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6113E31D-E2AB-40D1-8B51-AFA5AFEF393A}" type="slidenum">
              <a:rPr lang="en-US" smtClean="0"/>
              <a:pPr defTabSz="457200">
                <a:spcAft>
                  <a:spcPts val="600"/>
                </a:spcAft>
              </a:pPr>
              <a:t>20</a:t>
            </a:fld>
            <a:endParaRPr lang="en-US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230DB85-FA2B-D5F9-9F42-9C8A6D29E8AE}"/>
              </a:ext>
            </a:extLst>
          </p:cNvPr>
          <p:cNvSpPr/>
          <p:nvPr/>
        </p:nvSpPr>
        <p:spPr>
          <a:xfrm>
            <a:off x="5285064" y="1184488"/>
            <a:ext cx="1887523" cy="4449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4A141699-4F16-8F64-6055-288D23408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pPr algn="ctr"/>
            <a:r>
              <a:rPr lang="de-DE" dirty="0"/>
              <a:t>Level 4: </a:t>
            </a:r>
            <a:br>
              <a:rPr lang="de-DE" dirty="0"/>
            </a:br>
            <a:r>
              <a:rPr lang="de-DE" dirty="0"/>
              <a:t>Backend-Code</a:t>
            </a:r>
          </a:p>
        </p:txBody>
      </p:sp>
    </p:spTree>
    <p:extLst>
      <p:ext uri="{BB962C8B-B14F-4D97-AF65-F5344CB8AC3E}">
        <p14:creationId xmlns:p14="http://schemas.microsoft.com/office/powerpoint/2010/main" val="35060575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236D7-CB80-71CD-7B71-B3397BFAE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817252E8-78DC-6DA0-A2BC-5CE6242595B2}"/>
              </a:ext>
            </a:extLst>
          </p:cNvPr>
          <p:cNvSpPr/>
          <p:nvPr/>
        </p:nvSpPr>
        <p:spPr>
          <a:xfrm>
            <a:off x="1047404" y="1504606"/>
            <a:ext cx="10332720" cy="2826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F0A3D25D-010C-2539-AB7C-310153BA5B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0039658" y="1333637"/>
            <a:ext cx="21703068" cy="7892269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27C5028-6317-5C02-9E87-1DAA8CAA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6113E31D-E2AB-40D1-8B51-AFA5AFEF393A}" type="slidenum">
              <a:rPr lang="en-US" smtClean="0"/>
              <a:pPr defTabSz="457200">
                <a:spcAft>
                  <a:spcPts val="600"/>
                </a:spcAft>
              </a:pPr>
              <a:t>21</a:t>
            </a:fld>
            <a:endParaRPr lang="en-US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E4A7F9B-0189-EF83-12F0-2EB278AC0550}"/>
              </a:ext>
            </a:extLst>
          </p:cNvPr>
          <p:cNvSpPr/>
          <p:nvPr/>
        </p:nvSpPr>
        <p:spPr>
          <a:xfrm>
            <a:off x="5285064" y="1184488"/>
            <a:ext cx="1887523" cy="4449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646C9635-313F-38E1-2E36-84DEACF59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pPr algn="ctr"/>
            <a:r>
              <a:rPr lang="de-DE" dirty="0"/>
              <a:t>Level 4: </a:t>
            </a:r>
            <a:br>
              <a:rPr lang="de-DE" dirty="0"/>
            </a:br>
            <a:r>
              <a:rPr lang="de-DE" dirty="0"/>
              <a:t>Backend-Code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45511C34-4913-EA16-FA65-E0073FDE0F69}"/>
              </a:ext>
            </a:extLst>
          </p:cNvPr>
          <p:cNvSpPr/>
          <p:nvPr/>
        </p:nvSpPr>
        <p:spPr>
          <a:xfrm>
            <a:off x="0" y="1184488"/>
            <a:ext cx="2225615" cy="5632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A1F64487-44CF-DE92-6A1D-35982E911BD9}"/>
              </a:ext>
            </a:extLst>
          </p:cNvPr>
          <p:cNvSpPr/>
          <p:nvPr/>
        </p:nvSpPr>
        <p:spPr>
          <a:xfrm>
            <a:off x="-439838" y="6399825"/>
            <a:ext cx="11205604" cy="872668"/>
          </a:xfrm>
          <a:prstGeom prst="rect">
            <a:avLst/>
          </a:prstGeom>
          <a:solidFill>
            <a:srgbClr val="BD58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6295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69D09-9539-3245-61B5-AF945BBC2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084E8-90EA-F7C8-E708-A2B37A3B7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Unit Tests  - Frontend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5EB0F-EFE0-F4DE-6A1D-3E463EF46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marL="342900" indent="-34290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Technologie: </a:t>
            </a:r>
            <a:r>
              <a:rPr lang="en-US" err="1">
                <a:ea typeface="Calibri"/>
                <a:cs typeface="Calibri"/>
              </a:rPr>
              <a:t>Vitest</a:t>
            </a:r>
            <a:endParaRPr lang="en-US"/>
          </a:p>
          <a:p>
            <a:pPr marL="342900" indent="-342900">
              <a:buFont typeface="Arial"/>
              <a:buChar char="•"/>
            </a:pPr>
            <a:r>
              <a:rPr lang="en-US" err="1">
                <a:ea typeface="Calibri"/>
                <a:cs typeface="Calibri"/>
              </a:rPr>
              <a:t>Erstellen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eines</a:t>
            </a:r>
            <a:r>
              <a:rPr lang="en-US">
                <a:ea typeface="Calibri"/>
                <a:cs typeface="Calibri"/>
              </a:rPr>
              <a:t> Coverage </a:t>
            </a:r>
            <a:r>
              <a:rPr lang="en-US" err="1">
                <a:ea typeface="Calibri"/>
                <a:cs typeface="Calibri"/>
              </a:rPr>
              <a:t>Berichts</a:t>
            </a:r>
            <a:br>
              <a:rPr lang="en-US">
                <a:ea typeface="Calibri"/>
                <a:cs typeface="Calibri"/>
              </a:rPr>
            </a:br>
            <a:r>
              <a:rPr lang="en-US" err="1">
                <a:ea typeface="Calibri"/>
                <a:cs typeface="Calibri"/>
              </a:rPr>
              <a:t>mithilfe</a:t>
            </a:r>
            <a:r>
              <a:rPr lang="en-US">
                <a:ea typeface="Calibri"/>
                <a:cs typeface="Calibri"/>
              </a:rPr>
              <a:t> von </a:t>
            </a:r>
            <a:r>
              <a:rPr lang="en-US">
                <a:ea typeface="+mn-lt"/>
                <a:cs typeface="+mn-lt"/>
              </a:rPr>
              <a:t>v8</a:t>
            </a:r>
            <a:endParaRPr lang="en-US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US">
              <a:ea typeface="Calibri"/>
              <a:cs typeface="Calibri"/>
            </a:endParaRPr>
          </a:p>
          <a:p>
            <a:pPr marL="342900" indent="-342900">
              <a:buFont typeface="Arial" panose="020F0502020204030204" pitchFamily="34" charset="0"/>
              <a:buChar char="•"/>
            </a:pPr>
            <a:endParaRPr lang="en-US">
              <a:ea typeface="Calibri"/>
              <a:cs typeface="Calibri"/>
            </a:endParaRPr>
          </a:p>
          <a:p>
            <a:pPr marL="342900" indent="-342900">
              <a:buFont typeface="Arial" panose="020F0502020204030204" pitchFamily="34" charset="0"/>
              <a:buChar char="•"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AFFA9-C844-9C5D-3B51-557AD375C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22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CC0C3F-04FB-9229-9D6F-806EFC9FAEDF}"/>
              </a:ext>
            </a:extLst>
          </p:cNvPr>
          <p:cNvSpPr txBox="1"/>
          <p:nvPr/>
        </p:nvSpPr>
        <p:spPr>
          <a:xfrm>
            <a:off x="1784771" y="5258712"/>
            <a:ext cx="191516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>
                <a:ea typeface="Calibri"/>
                <a:cs typeface="Calibri"/>
              </a:rPr>
              <a:t>Implementierung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8C1B9C-0781-98C6-99C1-77C88DB6ADB3}"/>
              </a:ext>
            </a:extLst>
          </p:cNvPr>
          <p:cNvSpPr txBox="1"/>
          <p:nvPr/>
        </p:nvSpPr>
        <p:spPr>
          <a:xfrm>
            <a:off x="7761487" y="5311970"/>
            <a:ext cx="10829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Unit tests</a:t>
            </a:r>
            <a:endParaRPr lang="en-US" err="1"/>
          </a:p>
        </p:txBody>
      </p:sp>
      <p:pic>
        <p:nvPicPr>
          <p:cNvPr id="9" name="Picture 8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8EF36EC6-ED4E-E4B2-8545-B33760451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22" y="3631782"/>
            <a:ext cx="4334387" cy="1622340"/>
          </a:xfrm>
          <a:prstGeom prst="rect">
            <a:avLst/>
          </a:prstGeom>
        </p:spPr>
      </p:pic>
      <p:pic>
        <p:nvPicPr>
          <p:cNvPr id="10" name="Picture 9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63361CFF-FB85-2B8B-F42A-9FEBCE5E56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9290" y="2397168"/>
            <a:ext cx="6296741" cy="2858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3395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9F413-A680-EF24-44DE-5A3595D2A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AEBB4-486D-E623-EA46-E5727FD94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Unit Tests  - Backend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CF58D-F78D-744C-C47A-0CBCAD096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marL="342900" indent="-342900">
              <a:buFont typeface="Arial" panose="020F0502020204030204" pitchFamily="34" charset="0"/>
              <a:buChar char="•"/>
            </a:pPr>
            <a:r>
              <a:rPr lang="en-US">
                <a:ea typeface="Calibri"/>
                <a:cs typeface="Calibri"/>
              </a:rPr>
              <a:t>Technologie: JUnit</a:t>
            </a:r>
            <a:endParaRPr lang="en-US"/>
          </a:p>
          <a:p>
            <a:pPr marL="342900" indent="-342900">
              <a:buFont typeface="Arial" panose="020F0502020204030204" pitchFamily="34" charset="0"/>
              <a:buChar char="•"/>
            </a:pPr>
            <a:r>
              <a:rPr lang="en-US" err="1">
                <a:ea typeface="Calibri"/>
                <a:cs typeface="Calibri"/>
              </a:rPr>
              <a:t>Erstellen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eines</a:t>
            </a:r>
            <a:r>
              <a:rPr lang="en-US">
                <a:ea typeface="Calibri"/>
                <a:cs typeface="Calibri"/>
              </a:rPr>
              <a:t> Coverage </a:t>
            </a:r>
            <a:r>
              <a:rPr lang="en-US" err="1">
                <a:ea typeface="Calibri"/>
                <a:cs typeface="Calibri"/>
              </a:rPr>
              <a:t>Berichts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mit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JaCoCo</a:t>
            </a:r>
            <a:endParaRPr lang="en-US">
              <a:ea typeface="Calibri"/>
              <a:cs typeface="Calibri"/>
            </a:endParaRPr>
          </a:p>
          <a:p>
            <a:pPr marL="342900" indent="-342900">
              <a:buFont typeface="Arial" panose="020F0502020204030204" pitchFamily="34" charset="0"/>
              <a:buChar char="•"/>
            </a:pPr>
            <a:r>
              <a:rPr lang="en-US">
                <a:ea typeface="Calibri"/>
                <a:cs typeface="Calibri"/>
              </a:rPr>
              <a:t>Tests für </a:t>
            </a:r>
            <a:r>
              <a:rPr lang="en-US" err="1">
                <a:ea typeface="Calibri"/>
                <a:cs typeface="Calibri"/>
              </a:rPr>
              <a:t>jedes</a:t>
            </a:r>
            <a:r>
              <a:rPr lang="en-US">
                <a:ea typeface="Calibri"/>
                <a:cs typeface="Calibri"/>
              </a:rPr>
              <a:t> Layer, mocking der </a:t>
            </a:r>
            <a:r>
              <a:rPr lang="en-US" err="1">
                <a:ea typeface="Calibri"/>
                <a:cs typeface="Calibri"/>
              </a:rPr>
              <a:t>darunterliegenden</a:t>
            </a:r>
            <a:r>
              <a:rPr lang="en-US">
                <a:ea typeface="Calibri"/>
                <a:cs typeface="Calibri"/>
              </a:rPr>
              <a:t> Layers </a:t>
            </a:r>
            <a:r>
              <a:rPr lang="en-US" err="1">
                <a:ea typeface="Calibri"/>
                <a:cs typeface="Calibri"/>
              </a:rPr>
              <a:t>mit</a:t>
            </a:r>
            <a:r>
              <a:rPr lang="en-US">
                <a:ea typeface="Calibri"/>
                <a:cs typeface="Calibri"/>
              </a:rPr>
              <a:t> Mockito</a:t>
            </a:r>
          </a:p>
          <a:p>
            <a:pPr marL="342900" indent="-342900">
              <a:buFont typeface="Arial" panose="020F0502020204030204" pitchFamily="34" charset="0"/>
              <a:buChar char="•"/>
            </a:pPr>
            <a:endParaRPr lang="en-US">
              <a:ea typeface="Calibri"/>
              <a:cs typeface="Calibri"/>
            </a:endParaRPr>
          </a:p>
          <a:p>
            <a:pPr marL="342900" indent="-342900">
              <a:buFont typeface="Arial" panose="020F0502020204030204" pitchFamily="34" charset="0"/>
              <a:buChar char="•"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EA7C8-8BE2-890F-6549-0EE9520CD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23</a:t>
            </a:fld>
            <a:endParaRPr lang="en-US"/>
          </a:p>
        </p:txBody>
      </p:sp>
      <p:pic>
        <p:nvPicPr>
          <p:cNvPr id="6" name="Picture 5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4624E09B-BAC7-F194-758E-AD61DA407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032" y="3120430"/>
            <a:ext cx="10389419" cy="306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6801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35BBE-2E76-2DB3-0127-2E2AD21BB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D0D65-9814-0E91-CFFD-52FC33A0B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ea typeface="Calibri Light"/>
                <a:cs typeface="Calibri Light"/>
              </a:rPr>
              <a:t>Architekturtests</a:t>
            </a:r>
            <a:r>
              <a:rPr lang="en-US">
                <a:ea typeface="Calibri Light"/>
                <a:cs typeface="Calibri Light"/>
              </a:rPr>
              <a:t>  - Backend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C4A2C-489F-54F5-B748-6943A4A51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marL="342900" indent="-34290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Technologie: </a:t>
            </a:r>
            <a:r>
              <a:rPr lang="en-US" err="1">
                <a:ea typeface="Calibri"/>
                <a:cs typeface="Calibri"/>
              </a:rPr>
              <a:t>UnitArch</a:t>
            </a:r>
            <a:endParaRPr lang="en-US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err="1">
                <a:ea typeface="Calibri"/>
                <a:cs typeface="Calibri"/>
              </a:rPr>
              <a:t>Integriert</a:t>
            </a:r>
            <a:r>
              <a:rPr lang="en-US">
                <a:ea typeface="Calibri"/>
                <a:cs typeface="Calibri"/>
              </a:rPr>
              <a:t> seamless in JUnit</a:t>
            </a:r>
          </a:p>
          <a:p>
            <a:pPr marL="342900" indent="-34290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Controller, Service, Repository, </a:t>
            </a:r>
            <a:r>
              <a:rPr lang="en-US" err="1">
                <a:ea typeface="Calibri"/>
                <a:cs typeface="Calibri"/>
              </a:rPr>
              <a:t>RepositoryImpl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müssen</a:t>
            </a:r>
            <a:r>
              <a:rPr lang="en-US">
                <a:ea typeface="Calibri"/>
                <a:cs typeface="Calibri"/>
              </a:rPr>
              <a:t> in </a:t>
            </a:r>
            <a:r>
              <a:rPr lang="en-US" err="1">
                <a:ea typeface="Calibri"/>
                <a:cs typeface="Calibri"/>
              </a:rPr>
              <a:t>entsprechenden</a:t>
            </a:r>
            <a:r>
              <a:rPr lang="en-US">
                <a:ea typeface="Calibri"/>
                <a:cs typeface="Calibri"/>
              </a:rPr>
              <a:t> Packages </a:t>
            </a:r>
            <a:r>
              <a:rPr lang="en-US" err="1">
                <a:ea typeface="Calibri"/>
                <a:cs typeface="Calibri"/>
              </a:rPr>
              <a:t>liegen</a:t>
            </a:r>
            <a:endParaRPr lang="en-US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err="1">
                <a:ea typeface="Calibri"/>
                <a:cs typeface="Calibri"/>
              </a:rPr>
              <a:t>Zugriff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nur</a:t>
            </a:r>
            <a:r>
              <a:rPr lang="en-US">
                <a:ea typeface="Calibri"/>
                <a:cs typeface="Calibri"/>
              </a:rPr>
              <a:t> Controller -&gt; Service -&gt; Repository</a:t>
            </a:r>
          </a:p>
          <a:p>
            <a:pPr marL="342900" indent="-34290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Controller, Service, </a:t>
            </a:r>
            <a:r>
              <a:rPr lang="en-US" err="1">
                <a:ea typeface="Calibri"/>
                <a:cs typeface="Calibri"/>
              </a:rPr>
              <a:t>RepositoyImpl</a:t>
            </a:r>
            <a:r>
              <a:rPr lang="en-US">
                <a:ea typeface="Calibri"/>
                <a:cs typeface="Calibri"/>
              </a:rPr>
              <a:t>, utils/** </a:t>
            </a:r>
            <a:r>
              <a:rPr lang="en-US" err="1">
                <a:ea typeface="Calibri"/>
                <a:cs typeface="Calibri"/>
              </a:rPr>
              <a:t>müssen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eine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Testklasse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haben</a:t>
            </a:r>
            <a:endParaRPr lang="en-US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Klassen </a:t>
            </a:r>
            <a:r>
              <a:rPr lang="en-US" err="1">
                <a:ea typeface="Calibri"/>
                <a:cs typeface="Calibri"/>
              </a:rPr>
              <a:t>müssen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entsprechende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Annotierungen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haben</a:t>
            </a:r>
            <a:r>
              <a:rPr lang="en-US">
                <a:ea typeface="Calibri"/>
                <a:cs typeface="Calibri"/>
              </a:rPr>
              <a:t> (</a:t>
            </a:r>
            <a:r>
              <a:rPr lang="en-US" err="1">
                <a:ea typeface="Calibri"/>
                <a:cs typeface="Calibri"/>
              </a:rPr>
              <a:t>z.B.</a:t>
            </a:r>
            <a:r>
              <a:rPr lang="en-US">
                <a:ea typeface="Calibri"/>
                <a:cs typeface="Calibri"/>
              </a:rPr>
              <a:t> @Service)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51645F-FB15-4736-6D14-A6EFC9B52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1775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E82D8-3140-299B-08F0-430CB399E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ED386-7A76-540E-8F4A-D4480F9C6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ea typeface="Calibri Light"/>
                <a:cs typeface="Calibri Light"/>
              </a:rPr>
              <a:t>Architekturtests</a:t>
            </a:r>
            <a:r>
              <a:rPr lang="en-US">
                <a:ea typeface="Calibri Light"/>
                <a:cs typeface="Calibri Light"/>
              </a:rPr>
              <a:t>  - Backend</a:t>
            </a:r>
            <a:endParaRPr lang="en-US" err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3DD5C8-55E9-27C2-E362-D5EE16DE2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25</a:t>
            </a:fld>
            <a:endParaRPr lang="en-US"/>
          </a:p>
        </p:txBody>
      </p:sp>
      <p:pic>
        <p:nvPicPr>
          <p:cNvPr id="3" name="Picture 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3CD1F1F7-036C-C43C-CD6A-BA5AAF848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7407" y="2035026"/>
            <a:ext cx="8462532" cy="3805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2358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85911-80F0-8205-0DC4-1210882FD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16C8A-FEB2-254D-E713-117AFECE5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ea typeface="Calibri Light"/>
                <a:cs typeface="Calibri Light"/>
              </a:rPr>
              <a:t>Architekturtests</a:t>
            </a:r>
            <a:r>
              <a:rPr lang="en-US">
                <a:ea typeface="Calibri Light"/>
                <a:cs typeface="Calibri Light"/>
              </a:rPr>
              <a:t>  - Frontend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BF7F7-62A2-3ABA-E8CF-26608543B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marL="342900" indent="-34290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Technologie:  fallow-</a:t>
            </a:r>
            <a:r>
              <a:rPr lang="en-US" err="1">
                <a:ea typeface="Calibri"/>
                <a:cs typeface="Calibri"/>
              </a:rPr>
              <a:t>rs</a:t>
            </a:r>
            <a:r>
              <a:rPr lang="en-US">
                <a:ea typeface="Calibri"/>
                <a:cs typeface="Calibri"/>
              </a:rPr>
              <a:t>, </a:t>
            </a:r>
            <a:r>
              <a:rPr lang="en-US" err="1">
                <a:ea typeface="Calibri"/>
                <a:cs typeface="Calibri"/>
              </a:rPr>
              <a:t>vitest</a:t>
            </a:r>
          </a:p>
          <a:p>
            <a:pPr marL="342900" indent="-34290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Fallow: </a:t>
            </a:r>
            <a:r>
              <a:rPr lang="en-US" err="1">
                <a:ea typeface="Calibri"/>
                <a:cs typeface="Calibri"/>
              </a:rPr>
              <a:t>Statisches</a:t>
            </a:r>
            <a:r>
              <a:rPr lang="en-US">
                <a:ea typeface="Calibri"/>
                <a:cs typeface="Calibri"/>
              </a:rPr>
              <a:t> code-</a:t>
            </a:r>
            <a:r>
              <a:rPr lang="en-US" err="1">
                <a:ea typeface="Calibri"/>
                <a:cs typeface="Calibri"/>
              </a:rPr>
              <a:t>analyse</a:t>
            </a:r>
            <a:r>
              <a:rPr lang="en-US">
                <a:ea typeface="Calibri"/>
                <a:cs typeface="Calibri"/>
              </a:rPr>
              <a:t> Tool für JS/TS, </a:t>
            </a:r>
            <a:r>
              <a:rPr lang="en-US" err="1">
                <a:ea typeface="Calibri"/>
                <a:cs typeface="Calibri"/>
              </a:rPr>
              <a:t>mit</a:t>
            </a:r>
            <a:r>
              <a:rPr lang="en-US">
                <a:ea typeface="Calibri"/>
                <a:cs typeface="Calibri"/>
              </a:rPr>
              <a:t> </a:t>
            </a:r>
            <a:r>
              <a:rPr lang="en-US" err="1">
                <a:ea typeface="Calibri"/>
                <a:cs typeface="Calibri"/>
              </a:rPr>
              <a:t>anpassbaren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architektur</a:t>
            </a:r>
            <a:r>
              <a:rPr lang="en-US">
                <a:ea typeface="Calibri"/>
                <a:cs typeface="Calibri"/>
              </a:rPr>
              <a:t>-guards</a:t>
            </a:r>
          </a:p>
          <a:p>
            <a:pPr marL="342900" indent="-34290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Unit tests </a:t>
            </a:r>
            <a:r>
              <a:rPr lang="en-US" err="1">
                <a:ea typeface="Calibri"/>
                <a:cs typeface="Calibri"/>
              </a:rPr>
              <a:t>erwarten</a:t>
            </a:r>
            <a:r>
              <a:rPr lang="en-US">
                <a:ea typeface="Calibri"/>
                <a:cs typeface="Calibri"/>
              </a:rPr>
              <a:t>: frontend/</a:t>
            </a:r>
            <a:r>
              <a:rPr lang="en-US" err="1">
                <a:ea typeface="Calibri"/>
                <a:cs typeface="Calibri"/>
              </a:rPr>
              <a:t>src</a:t>
            </a:r>
            <a:r>
              <a:rPr lang="en-US">
                <a:ea typeface="Calibri"/>
                <a:cs typeface="Calibri"/>
              </a:rPr>
              <a:t> </a:t>
            </a:r>
            <a:r>
              <a:rPr lang="en-US" err="1">
                <a:ea typeface="Calibri"/>
                <a:cs typeface="Calibri"/>
              </a:rPr>
              <a:t>gespiegelt</a:t>
            </a:r>
            <a:r>
              <a:rPr lang="en-US">
                <a:ea typeface="Calibri"/>
                <a:cs typeface="Calibri"/>
              </a:rPr>
              <a:t> in frontend/test/unit</a:t>
            </a:r>
          </a:p>
          <a:p>
            <a:pPr marL="342900" indent="-342900">
              <a:buFont typeface="Arial"/>
              <a:buChar char="•"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07CD5C-E812-B1DB-B5F7-CA5B09310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6124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4DB55-92A5-9188-EFBD-2EA88F9C7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83587-A258-31B2-2A05-4ED877391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Load Tests</a:t>
            </a:r>
            <a:endParaRPr lang="en-US" err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C8C617-E2DA-2DC3-FDE7-11B7E9514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27</a:t>
            </a:fld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AF43752-1841-6E03-E508-88C9334DC2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26698" y="2967317"/>
            <a:ext cx="3458940" cy="3290047"/>
          </a:xfrm>
          <a:prstGeom prst="rect">
            <a:avLst/>
          </a:prstGeom>
        </p:spPr>
      </p:pic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61D594FB-AE29-B58F-E967-FAA52F325D97}"/>
              </a:ext>
            </a:extLst>
          </p:cNvPr>
          <p:cNvCxnSpPr>
            <a:cxnSpLocks/>
          </p:cNvCxnSpPr>
          <p:nvPr/>
        </p:nvCxnSpPr>
        <p:spPr>
          <a:xfrm flipH="1" flipV="1">
            <a:off x="2635018" y="3119068"/>
            <a:ext cx="4522527" cy="210457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6DD9B31C-2CBF-59EE-6100-34863B128413}"/>
              </a:ext>
            </a:extLst>
          </p:cNvPr>
          <p:cNvCxnSpPr>
            <a:cxnSpLocks/>
          </p:cNvCxnSpPr>
          <p:nvPr/>
        </p:nvCxnSpPr>
        <p:spPr>
          <a:xfrm flipH="1" flipV="1">
            <a:off x="2251391" y="3218916"/>
            <a:ext cx="4740252" cy="220442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25EE1D56-7F81-A3DA-5F08-636DF08ECEB0}"/>
              </a:ext>
            </a:extLst>
          </p:cNvPr>
          <p:cNvCxnSpPr>
            <a:cxnSpLocks/>
          </p:cNvCxnSpPr>
          <p:nvPr/>
        </p:nvCxnSpPr>
        <p:spPr>
          <a:xfrm flipH="1" flipV="1">
            <a:off x="2734867" y="3318764"/>
            <a:ext cx="4315860" cy="199601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0D798C88-D242-2FB0-4A2F-E2FEB7EDCCC6}"/>
              </a:ext>
            </a:extLst>
          </p:cNvPr>
          <p:cNvCxnSpPr>
            <a:cxnSpLocks/>
          </p:cNvCxnSpPr>
          <p:nvPr/>
        </p:nvCxnSpPr>
        <p:spPr>
          <a:xfrm flipH="1" flipV="1">
            <a:off x="1946591" y="3218916"/>
            <a:ext cx="4911409" cy="230426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C4701B0C-2CD7-838C-C39A-17F3D0CF297E}"/>
              </a:ext>
            </a:extLst>
          </p:cNvPr>
          <p:cNvCxnSpPr>
            <a:cxnSpLocks/>
          </p:cNvCxnSpPr>
          <p:nvPr/>
        </p:nvCxnSpPr>
        <p:spPr>
          <a:xfrm flipH="1" flipV="1">
            <a:off x="5353251" y="3022098"/>
            <a:ext cx="2313830" cy="194545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70CB3511-45D6-EF5B-4F1F-48B564642D38}"/>
              </a:ext>
            </a:extLst>
          </p:cNvPr>
          <p:cNvCxnSpPr>
            <a:cxnSpLocks/>
          </p:cNvCxnSpPr>
          <p:nvPr/>
        </p:nvCxnSpPr>
        <p:spPr>
          <a:xfrm flipH="1" flipV="1">
            <a:off x="5639313" y="3080866"/>
            <a:ext cx="2124303" cy="182381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5F8BE577-5075-9E63-979B-B3C1C56D2185}"/>
              </a:ext>
            </a:extLst>
          </p:cNvPr>
          <p:cNvCxnSpPr>
            <a:cxnSpLocks/>
          </p:cNvCxnSpPr>
          <p:nvPr/>
        </p:nvCxnSpPr>
        <p:spPr>
          <a:xfrm flipH="1" flipV="1">
            <a:off x="5649755" y="2913535"/>
            <a:ext cx="2199954" cy="188760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E5CF047F-CABD-FB68-DFE6-F931FA904DB3}"/>
              </a:ext>
            </a:extLst>
          </p:cNvPr>
          <p:cNvCxnSpPr>
            <a:cxnSpLocks/>
          </p:cNvCxnSpPr>
          <p:nvPr/>
        </p:nvCxnSpPr>
        <p:spPr>
          <a:xfrm flipH="1" flipV="1">
            <a:off x="5553220" y="3305134"/>
            <a:ext cx="2040288" cy="174826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CA5A8A3E-9729-CA3F-D9D1-F72E782AD196}"/>
              </a:ext>
            </a:extLst>
          </p:cNvPr>
          <p:cNvCxnSpPr>
            <a:cxnSpLocks/>
          </p:cNvCxnSpPr>
          <p:nvPr/>
        </p:nvCxnSpPr>
        <p:spPr>
          <a:xfrm flipH="1" flipV="1">
            <a:off x="7957083" y="2942347"/>
            <a:ext cx="349617" cy="174826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37BDC64F-6FC2-98A9-0117-2556C9DE8B10}"/>
              </a:ext>
            </a:extLst>
          </p:cNvPr>
          <p:cNvCxnSpPr>
            <a:cxnSpLocks/>
          </p:cNvCxnSpPr>
          <p:nvPr/>
        </p:nvCxnSpPr>
        <p:spPr>
          <a:xfrm flipH="1" flipV="1">
            <a:off x="8128933" y="3046889"/>
            <a:ext cx="298840" cy="160865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46E452B2-FA82-A386-025C-1763A3AD32F3}"/>
              </a:ext>
            </a:extLst>
          </p:cNvPr>
          <p:cNvCxnSpPr>
            <a:cxnSpLocks/>
          </p:cNvCxnSpPr>
          <p:nvPr/>
        </p:nvCxnSpPr>
        <p:spPr>
          <a:xfrm flipH="1" flipV="1">
            <a:off x="8221556" y="2837805"/>
            <a:ext cx="360059" cy="178281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6CD85EB1-2D9E-B2C5-90F4-1480C4397240}"/>
              </a:ext>
            </a:extLst>
          </p:cNvPr>
          <p:cNvCxnSpPr>
            <a:cxnSpLocks/>
          </p:cNvCxnSpPr>
          <p:nvPr/>
        </p:nvCxnSpPr>
        <p:spPr>
          <a:xfrm flipH="1" flipV="1">
            <a:off x="8414003" y="3116559"/>
            <a:ext cx="278243" cy="147865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hteck: abgerundete Ecken 41">
            <a:extLst>
              <a:ext uri="{FF2B5EF4-FFF2-40B4-BE49-F238E27FC236}">
                <a16:creationId xmlns:a16="http://schemas.microsoft.com/office/drawing/2014/main" id="{83B456A1-3F7F-667D-C3DE-AE04F294A78F}"/>
              </a:ext>
            </a:extLst>
          </p:cNvPr>
          <p:cNvSpPr/>
          <p:nvPr/>
        </p:nvSpPr>
        <p:spPr>
          <a:xfrm>
            <a:off x="6887488" y="2124401"/>
            <a:ext cx="2760132" cy="60511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POST  /</a:t>
            </a:r>
            <a:r>
              <a:rPr lang="de-DE" b="1" dirty="0" err="1">
                <a:solidFill>
                  <a:schemeClr val="tx1"/>
                </a:solidFill>
              </a:rPr>
              <a:t>api</a:t>
            </a:r>
            <a:r>
              <a:rPr lang="de-DE" b="1" dirty="0">
                <a:solidFill>
                  <a:schemeClr val="tx1"/>
                </a:solidFill>
              </a:rPr>
              <a:t>/v1/</a:t>
            </a:r>
            <a:r>
              <a:rPr lang="de-DE" b="1" dirty="0" err="1">
                <a:solidFill>
                  <a:schemeClr val="tx1"/>
                </a:solidFill>
              </a:rPr>
              <a:t>jokes</a:t>
            </a:r>
            <a:endParaRPr lang="de-DE" b="1" dirty="0">
              <a:solidFill>
                <a:schemeClr val="tx1"/>
              </a:solidFill>
            </a:endParaRPr>
          </a:p>
        </p:txBody>
      </p:sp>
      <p:sp>
        <p:nvSpPr>
          <p:cNvPr id="43" name="Rechteck: abgerundete Ecken 42">
            <a:extLst>
              <a:ext uri="{FF2B5EF4-FFF2-40B4-BE49-F238E27FC236}">
                <a16:creationId xmlns:a16="http://schemas.microsoft.com/office/drawing/2014/main" id="{B952389C-6523-F53B-6515-4F4C961ACB24}"/>
              </a:ext>
            </a:extLst>
          </p:cNvPr>
          <p:cNvSpPr/>
          <p:nvPr/>
        </p:nvSpPr>
        <p:spPr>
          <a:xfrm>
            <a:off x="439649" y="2079164"/>
            <a:ext cx="2760133" cy="60511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GET  /</a:t>
            </a:r>
            <a:r>
              <a:rPr lang="de-DE" b="1" dirty="0" err="1">
                <a:solidFill>
                  <a:schemeClr val="tx1"/>
                </a:solidFill>
              </a:rPr>
              <a:t>api</a:t>
            </a:r>
            <a:r>
              <a:rPr lang="de-DE" b="1" dirty="0">
                <a:solidFill>
                  <a:schemeClr val="tx1"/>
                </a:solidFill>
              </a:rPr>
              <a:t>/v1/</a:t>
            </a:r>
            <a:r>
              <a:rPr lang="de-DE" b="1" dirty="0" err="1">
                <a:solidFill>
                  <a:schemeClr val="tx1"/>
                </a:solidFill>
              </a:rPr>
              <a:t>jokes</a:t>
            </a:r>
            <a:endParaRPr lang="de-DE" b="1" dirty="0">
              <a:solidFill>
                <a:schemeClr val="tx1"/>
              </a:solidFill>
            </a:endParaRPr>
          </a:p>
        </p:txBody>
      </p:sp>
      <p:sp>
        <p:nvSpPr>
          <p:cNvPr id="44" name="Rechteck: abgerundete Ecken 43">
            <a:extLst>
              <a:ext uri="{FF2B5EF4-FFF2-40B4-BE49-F238E27FC236}">
                <a16:creationId xmlns:a16="http://schemas.microsoft.com/office/drawing/2014/main" id="{714F057B-D1D3-433C-BB30-8DD82A34B2A5}"/>
              </a:ext>
            </a:extLst>
          </p:cNvPr>
          <p:cNvSpPr/>
          <p:nvPr/>
        </p:nvSpPr>
        <p:spPr>
          <a:xfrm>
            <a:off x="3663568" y="2124402"/>
            <a:ext cx="2760134" cy="60511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GET  /</a:t>
            </a:r>
            <a:r>
              <a:rPr lang="de-DE" b="1" dirty="0" err="1">
                <a:solidFill>
                  <a:schemeClr val="tx1"/>
                </a:solidFill>
              </a:rPr>
              <a:t>api</a:t>
            </a:r>
            <a:r>
              <a:rPr lang="de-DE" b="1" dirty="0">
                <a:solidFill>
                  <a:schemeClr val="tx1"/>
                </a:solidFill>
              </a:rPr>
              <a:t>/v1/source-joke</a:t>
            </a:r>
          </a:p>
        </p:txBody>
      </p:sp>
    </p:spTree>
    <p:extLst>
      <p:ext uri="{BB962C8B-B14F-4D97-AF65-F5344CB8AC3E}">
        <p14:creationId xmlns:p14="http://schemas.microsoft.com/office/powerpoint/2010/main" val="1610899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5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7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25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75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25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75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807CF-DB95-82C0-FF85-CA4879996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6F79D-7D9C-77E2-743D-C4D8053BA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Load Tests</a:t>
            </a:r>
            <a:endParaRPr lang="en-US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B8BF7E3-67AC-F462-2BB0-BD91D1843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649" y="2967317"/>
            <a:ext cx="9207973" cy="274969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368BD-9CDA-D871-59F7-053EE1228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28</a:t>
            </a:fld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15595D0-3107-F6B0-9099-A273E30370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26698" y="2967317"/>
            <a:ext cx="3458940" cy="3290047"/>
          </a:xfrm>
          <a:prstGeom prst="rect">
            <a:avLst/>
          </a:prstGeom>
        </p:spPr>
      </p:pic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6FBF9AF8-E881-9EE3-4E20-0B5441F19331}"/>
              </a:ext>
            </a:extLst>
          </p:cNvPr>
          <p:cNvSpPr/>
          <p:nvPr/>
        </p:nvSpPr>
        <p:spPr>
          <a:xfrm>
            <a:off x="6887488" y="2124401"/>
            <a:ext cx="2760132" cy="60511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POST  /</a:t>
            </a:r>
            <a:r>
              <a:rPr lang="de-DE" b="1" dirty="0" err="1">
                <a:solidFill>
                  <a:schemeClr val="tx1"/>
                </a:solidFill>
              </a:rPr>
              <a:t>api</a:t>
            </a:r>
            <a:r>
              <a:rPr lang="de-DE" b="1" dirty="0">
                <a:solidFill>
                  <a:schemeClr val="tx1"/>
                </a:solidFill>
              </a:rPr>
              <a:t>/v1/</a:t>
            </a:r>
            <a:r>
              <a:rPr lang="de-DE" b="1" dirty="0" err="1">
                <a:solidFill>
                  <a:schemeClr val="tx1"/>
                </a:solidFill>
              </a:rPr>
              <a:t>jokes</a:t>
            </a:r>
            <a:endParaRPr lang="de-DE" b="1" dirty="0">
              <a:solidFill>
                <a:schemeClr val="tx1"/>
              </a:solidFill>
            </a:endParaRP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9D5DBB05-242F-C2DB-DBD0-070CB3FC512B}"/>
              </a:ext>
            </a:extLst>
          </p:cNvPr>
          <p:cNvSpPr/>
          <p:nvPr/>
        </p:nvSpPr>
        <p:spPr>
          <a:xfrm>
            <a:off x="439649" y="2079164"/>
            <a:ext cx="2760133" cy="60511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GET  /</a:t>
            </a:r>
            <a:r>
              <a:rPr lang="de-DE" b="1" dirty="0" err="1">
                <a:solidFill>
                  <a:schemeClr val="tx1"/>
                </a:solidFill>
              </a:rPr>
              <a:t>api</a:t>
            </a:r>
            <a:r>
              <a:rPr lang="de-DE" b="1" dirty="0">
                <a:solidFill>
                  <a:schemeClr val="tx1"/>
                </a:solidFill>
              </a:rPr>
              <a:t>/v1/</a:t>
            </a:r>
            <a:r>
              <a:rPr lang="de-DE" b="1" dirty="0" err="1">
                <a:solidFill>
                  <a:schemeClr val="tx1"/>
                </a:solidFill>
              </a:rPr>
              <a:t>jokes</a:t>
            </a:r>
            <a:endParaRPr lang="de-DE" b="1" dirty="0">
              <a:solidFill>
                <a:schemeClr val="tx1"/>
              </a:solidFill>
            </a:endParaRP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9ABDE9AE-BC43-5DE2-5A14-BD446E740B7B}"/>
              </a:ext>
            </a:extLst>
          </p:cNvPr>
          <p:cNvSpPr/>
          <p:nvPr/>
        </p:nvSpPr>
        <p:spPr>
          <a:xfrm>
            <a:off x="3663568" y="2124402"/>
            <a:ext cx="2760134" cy="60511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GET  /</a:t>
            </a:r>
            <a:r>
              <a:rPr lang="de-DE" b="1" dirty="0" err="1">
                <a:solidFill>
                  <a:schemeClr val="tx1"/>
                </a:solidFill>
              </a:rPr>
              <a:t>api</a:t>
            </a:r>
            <a:r>
              <a:rPr lang="de-DE" b="1" dirty="0">
                <a:solidFill>
                  <a:schemeClr val="tx1"/>
                </a:solidFill>
              </a:rPr>
              <a:t>/v1/source-joke</a:t>
            </a:r>
          </a:p>
        </p:txBody>
      </p:sp>
    </p:spTree>
    <p:extLst>
      <p:ext uri="{BB962C8B-B14F-4D97-AF65-F5344CB8AC3E}">
        <p14:creationId xmlns:p14="http://schemas.microsoft.com/office/powerpoint/2010/main" val="3958439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1E906-98DF-9D03-E499-B2E25789B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114F0-9BDA-0B9F-1098-8F6F25FBD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 Light"/>
                <a:ea typeface="Calibri Light"/>
                <a:cs typeface="Calibri Light"/>
              </a:rPr>
              <a:t>E2E Tests: Playwright</a:t>
            </a:r>
            <a:endParaRPr lang="en-US">
              <a:ea typeface="Calibri Light"/>
              <a:cs typeface="Calibri Ligh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AD5EC6-D17F-7408-952E-FC6A83722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29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71D69C-71A9-7ED5-E04A-79B95F4D177A}"/>
              </a:ext>
            </a:extLst>
          </p:cNvPr>
          <p:cNvSpPr txBox="1"/>
          <p:nvPr/>
        </p:nvSpPr>
        <p:spPr>
          <a:xfrm>
            <a:off x="1397726" y="5867999"/>
            <a:ext cx="278674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Page Object Model (POM)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5D97DC0-0951-E0D1-6472-902A6BE38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 vert="horz" lIns="0" tIns="45720" rIns="0" bIns="45720" rtlCol="0" anchor="t">
            <a:normAutofit/>
          </a:bodyPr>
          <a:lstStyle/>
          <a:p>
            <a:pPr marL="342900" indent="-342900">
              <a:buFont typeface="Arial"/>
              <a:buChar char="•"/>
            </a:pPr>
            <a:r>
              <a:rPr lang="en-US" err="1">
                <a:ea typeface="Calibri"/>
                <a:cs typeface="Calibri"/>
              </a:rPr>
              <a:t>Strukturelle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Trennung</a:t>
            </a:r>
            <a:r>
              <a:rPr lang="en-US">
                <a:ea typeface="Calibri"/>
                <a:cs typeface="Calibri"/>
              </a:rPr>
              <a:t> von Locators und Tests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4D36EA-2D05-F808-A1ED-F49A9179227F}"/>
              </a:ext>
            </a:extLst>
          </p:cNvPr>
          <p:cNvSpPr txBox="1"/>
          <p:nvPr/>
        </p:nvSpPr>
        <p:spPr>
          <a:xfrm>
            <a:off x="7712492" y="5529332"/>
            <a:ext cx="19986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Playwright test</a:t>
            </a:r>
          </a:p>
        </p:txBody>
      </p:sp>
      <p:pic>
        <p:nvPicPr>
          <p:cNvPr id="3" name="Picture 2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E2AE1D21-AB80-8B5A-EBAE-915818D47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712" y="2133705"/>
            <a:ext cx="6606665" cy="3319458"/>
          </a:xfrm>
          <a:prstGeom prst="rect">
            <a:avLst/>
          </a:prstGeom>
        </p:spPr>
      </p:pic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946AC285-A1A1-BFFB-8627-9490141224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65" y="2135073"/>
            <a:ext cx="4950661" cy="3659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8828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359CA-D748-65AF-3ED6-DEEC0EBAE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DAE99-68B7-11CD-A5E7-662D359FD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 Light"/>
                <a:ea typeface="Calibri Light"/>
                <a:cs typeface="Calibri Light"/>
              </a:rPr>
              <a:t>Security- / Integrations-Tests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C8A0D-5ED3-0A72-A824-586B2E5B9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marL="342900" indent="-342900">
              <a:buFont typeface="Arial"/>
              <a:buChar char="•"/>
            </a:pPr>
            <a:r>
              <a:rPr lang="de-DE" noProof="0" dirty="0">
                <a:ea typeface="Calibri"/>
                <a:cs typeface="Calibri"/>
              </a:rPr>
              <a:t>Geschützte Endpunkte testen: </a:t>
            </a:r>
            <a:r>
              <a:rPr lang="de-DE" i="1" noProof="0" dirty="0">
                <a:ea typeface="Calibri"/>
                <a:cs typeface="Calibri"/>
              </a:rPr>
              <a:t>kann ohne Authentication zugegriffen werden?</a:t>
            </a:r>
          </a:p>
          <a:p>
            <a:pPr marL="342900" indent="-342900">
              <a:buFont typeface="Arial"/>
              <a:buChar char="•"/>
            </a:pPr>
            <a:r>
              <a:rPr lang="de-DE" dirty="0">
                <a:ea typeface="Calibri"/>
                <a:cs typeface="Calibri"/>
              </a:rPr>
              <a:t>„</a:t>
            </a:r>
            <a:r>
              <a:rPr lang="de-DE" noProof="0" dirty="0">
                <a:ea typeface="Calibri"/>
                <a:cs typeface="Calibri"/>
              </a:rPr>
              <a:t>Angriffsszenarien</a:t>
            </a:r>
            <a:r>
              <a:rPr lang="de-DE" dirty="0">
                <a:ea typeface="Calibri"/>
                <a:cs typeface="Calibri"/>
              </a:rPr>
              <a:t>“:</a:t>
            </a:r>
          </a:p>
          <a:p>
            <a:pPr marL="635508" lvl="1" indent="-342900">
              <a:buFont typeface="Arial"/>
              <a:buChar char="•"/>
            </a:pPr>
            <a:r>
              <a:rPr lang="de-DE" dirty="0">
                <a:ea typeface="Calibri"/>
                <a:cs typeface="Calibri"/>
              </a:rPr>
              <a:t>Anfrage ohne Token / Header</a:t>
            </a:r>
          </a:p>
          <a:p>
            <a:pPr marL="635508" lvl="1" indent="-342900">
              <a:buFont typeface="Arial"/>
              <a:buChar char="•"/>
            </a:pPr>
            <a:r>
              <a:rPr lang="de-DE" dirty="0">
                <a:ea typeface="Calibri"/>
                <a:cs typeface="Calibri"/>
              </a:rPr>
              <a:t>Anfrage mit ungültigem Token</a:t>
            </a:r>
          </a:p>
          <a:p>
            <a:pPr marL="342900" indent="-342900">
              <a:buFont typeface="Arial"/>
              <a:buChar char="•"/>
            </a:pPr>
            <a:r>
              <a:rPr lang="de-DE" dirty="0">
                <a:ea typeface="Calibri"/>
                <a:cs typeface="Calibri"/>
              </a:rPr>
              <a:t>Unittests im Backend testen, wie einzelne Bausteine (z. B. Controller) reagieren</a:t>
            </a:r>
          </a:p>
          <a:p>
            <a:pPr marL="342900" indent="-342900">
              <a:buFont typeface="Arial"/>
              <a:buChar char="•"/>
            </a:pPr>
            <a:r>
              <a:rPr lang="de-DE" dirty="0">
                <a:ea typeface="Calibri"/>
                <a:cs typeface="Calibri"/>
              </a:rPr>
              <a:t>Shell-Skript testet Integration mit HTTP-Anfragen an den laufenden Container</a:t>
            </a:r>
          </a:p>
          <a:p>
            <a:pPr marL="342900" indent="-342900">
              <a:buFont typeface="Arial"/>
              <a:buChar char="•"/>
            </a:pPr>
            <a:endParaRPr lang="de-DE" noProof="0" dirty="0">
              <a:ea typeface="Calibri"/>
              <a:cs typeface="Calibri"/>
            </a:endParaRPr>
          </a:p>
          <a:p>
            <a:pPr marL="292608" lvl="1" indent="0">
              <a:buNone/>
            </a:pPr>
            <a:endParaRPr lang="de-DE" noProof="0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A54BB-7B23-2A30-C570-FBB460BCE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33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722FA-95A1-645C-AE58-5C3924269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07760-9325-0660-8BE3-F2FFD4BD6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 Light"/>
                <a:ea typeface="Calibri Light"/>
                <a:cs typeface="Calibri Light"/>
              </a:rPr>
              <a:t>Security- / Integrations-Tests</a:t>
            </a:r>
            <a:endParaRPr lang="en-US" dirty="0">
              <a:ea typeface="Calibri Light"/>
              <a:cs typeface="Calibri Light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85EB41E-EEBC-BEF8-D1D6-62067BA7D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990" y="651387"/>
            <a:ext cx="9942255" cy="555522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6F7C6-DE5D-34A6-8174-DDFC303F1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31</a:t>
            </a:fld>
            <a:endParaRPr lang="en-US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4E945A6-5F5D-622B-F70B-044AD3FC7DC7}"/>
              </a:ext>
            </a:extLst>
          </p:cNvPr>
          <p:cNvSpPr/>
          <p:nvPr/>
        </p:nvSpPr>
        <p:spPr>
          <a:xfrm>
            <a:off x="9075174" y="1524000"/>
            <a:ext cx="2290916" cy="3637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Sprechblase: rechteckig mit abgerundeten Ecken 9">
            <a:extLst>
              <a:ext uri="{FF2B5EF4-FFF2-40B4-BE49-F238E27FC236}">
                <a16:creationId xmlns:a16="http://schemas.microsoft.com/office/drawing/2014/main" id="{FDEE9DB6-727D-09A6-EEAA-D61AB102D57A}"/>
              </a:ext>
            </a:extLst>
          </p:cNvPr>
          <p:cNvSpPr/>
          <p:nvPr/>
        </p:nvSpPr>
        <p:spPr>
          <a:xfrm>
            <a:off x="10059478" y="3103056"/>
            <a:ext cx="1844532" cy="1071716"/>
          </a:xfrm>
          <a:prstGeom prst="wedgeRoundRectCallout">
            <a:avLst>
              <a:gd name="adj1" fmla="val -33093"/>
              <a:gd name="adj2" fmla="val 10011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/>
              <a:t>Authentication-Service </a:t>
            </a:r>
            <a:r>
              <a:rPr lang="de-DE" b="1" dirty="0" err="1"/>
              <a:t>gemockt</a:t>
            </a:r>
            <a:endParaRPr lang="de-DE" b="1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4EC18A8-B19B-D0E7-B677-D42036BEA07D}"/>
              </a:ext>
            </a:extLst>
          </p:cNvPr>
          <p:cNvSpPr txBox="1">
            <a:spLocks/>
          </p:cNvSpPr>
          <p:nvPr/>
        </p:nvSpPr>
        <p:spPr>
          <a:xfrm>
            <a:off x="1249680" y="4390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dirty="0">
                <a:latin typeface="Calibri Light"/>
                <a:ea typeface="Calibri Light"/>
                <a:cs typeface="Calibri Light"/>
              </a:rPr>
              <a:t>Security-Tests</a:t>
            </a:r>
            <a:endParaRPr lang="en-US" dirty="0"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42645553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F96C8-0B19-5D7E-0057-C83916567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F4437-467F-1BB6-EA82-719041516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 Light"/>
                <a:ea typeface="Calibri Light"/>
                <a:cs typeface="Calibri Light"/>
              </a:rPr>
              <a:t>Security- / Integrations-Tests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6274D8-C80A-CE00-0DF5-8012364D7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32</a:t>
            </a:fld>
            <a:endParaRPr lang="en-US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C349441-BA16-E81E-CA66-BCFBE844C5FB}"/>
              </a:ext>
            </a:extLst>
          </p:cNvPr>
          <p:cNvSpPr/>
          <p:nvPr/>
        </p:nvSpPr>
        <p:spPr>
          <a:xfrm>
            <a:off x="9075174" y="1524000"/>
            <a:ext cx="2290916" cy="3637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Sprechblase: rechteckig mit abgerundeten Ecken 9">
            <a:extLst>
              <a:ext uri="{FF2B5EF4-FFF2-40B4-BE49-F238E27FC236}">
                <a16:creationId xmlns:a16="http://schemas.microsoft.com/office/drawing/2014/main" id="{D4E464B5-391F-04DD-2839-C276B86770F3}"/>
              </a:ext>
            </a:extLst>
          </p:cNvPr>
          <p:cNvSpPr/>
          <p:nvPr/>
        </p:nvSpPr>
        <p:spPr>
          <a:xfrm>
            <a:off x="9900458" y="3103056"/>
            <a:ext cx="1844532" cy="1071716"/>
          </a:xfrm>
          <a:prstGeom prst="wedgeRoundRectCallout">
            <a:avLst>
              <a:gd name="adj1" fmla="val -47485"/>
              <a:gd name="adj2" fmla="val 8543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/>
              <a:t>Startet die Anwendung korrekt?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68EB6A8-5750-17C7-8F41-BC80BF6CF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910" y="481781"/>
            <a:ext cx="8730931" cy="556960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AB772B7-F2EA-0E5B-0CBE-CE74B30406C7}"/>
              </a:ext>
            </a:extLst>
          </p:cNvPr>
          <p:cNvSpPr txBox="1">
            <a:spLocks/>
          </p:cNvSpPr>
          <p:nvPr/>
        </p:nvSpPr>
        <p:spPr>
          <a:xfrm>
            <a:off x="1249680" y="4390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dirty="0">
                <a:latin typeface="Calibri Light"/>
                <a:ea typeface="Calibri Light"/>
                <a:cs typeface="Calibri Light"/>
              </a:rPr>
              <a:t>Integrations-Tests</a:t>
            </a:r>
            <a:endParaRPr lang="en-US" dirty="0"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9160888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3B380-8212-9EFE-D156-3C98FAE47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F4F38-DFB3-985B-D682-F59C0A504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 Light"/>
                <a:ea typeface="Calibri Light"/>
                <a:cs typeface="Calibri Light"/>
              </a:rPr>
              <a:t>Security- / Integrations-Tests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4C8C14-1F68-0290-02A9-32D3C5D00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33</a:t>
            </a:fld>
            <a:endParaRPr lang="en-US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03D1F930-1853-D9B9-C099-104C1D0BA3C1}"/>
              </a:ext>
            </a:extLst>
          </p:cNvPr>
          <p:cNvSpPr/>
          <p:nvPr/>
        </p:nvSpPr>
        <p:spPr>
          <a:xfrm>
            <a:off x="9075174" y="1524000"/>
            <a:ext cx="2290916" cy="3637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Sprechblase: rechteckig mit abgerundeten Ecken 9">
            <a:extLst>
              <a:ext uri="{FF2B5EF4-FFF2-40B4-BE49-F238E27FC236}">
                <a16:creationId xmlns:a16="http://schemas.microsoft.com/office/drawing/2014/main" id="{057CCC1F-0CBF-6B74-03BF-BDBE6C410B26}"/>
              </a:ext>
            </a:extLst>
          </p:cNvPr>
          <p:cNvSpPr/>
          <p:nvPr/>
        </p:nvSpPr>
        <p:spPr>
          <a:xfrm>
            <a:off x="9367951" y="1901075"/>
            <a:ext cx="1844532" cy="1071716"/>
          </a:xfrm>
          <a:prstGeom prst="wedgeRoundRectCallout">
            <a:avLst>
              <a:gd name="adj1" fmla="val -47485"/>
              <a:gd name="adj2" fmla="val 8543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/>
              <a:t>Kann man sich echt anmelden?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EF4E09C-3799-4D75-8789-DACCE30CC8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910" y="286603"/>
            <a:ext cx="8191254" cy="590100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5E8E7D6-C8E7-C7FC-9073-F2982A97EFE8}"/>
              </a:ext>
            </a:extLst>
          </p:cNvPr>
          <p:cNvSpPr txBox="1">
            <a:spLocks/>
          </p:cNvSpPr>
          <p:nvPr/>
        </p:nvSpPr>
        <p:spPr>
          <a:xfrm>
            <a:off x="1249680" y="4390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dirty="0">
                <a:latin typeface="Calibri Light"/>
                <a:ea typeface="Calibri Light"/>
                <a:cs typeface="Calibri Light"/>
              </a:rPr>
              <a:t>Integrations-Tests</a:t>
            </a:r>
            <a:endParaRPr lang="en-US" dirty="0"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2961632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B20CF-44A2-40D0-5CA2-4D68176BC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18EB8D-A490-4FC5-6A09-3026B3978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34</a:t>
            </a:fld>
            <a:endParaRPr lang="en-US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25DF030-CCB1-4637-5BAF-0443FD5F828E}"/>
              </a:ext>
            </a:extLst>
          </p:cNvPr>
          <p:cNvSpPr/>
          <p:nvPr/>
        </p:nvSpPr>
        <p:spPr>
          <a:xfrm>
            <a:off x="9075174" y="1524000"/>
            <a:ext cx="2290916" cy="3637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4C99F53-157C-F699-C9AD-76F2A9D36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910" y="1573160"/>
            <a:ext cx="9597145" cy="4001729"/>
          </a:xfrm>
          <a:prstGeom prst="rect">
            <a:avLst/>
          </a:prstGeom>
        </p:spPr>
      </p:pic>
      <p:sp>
        <p:nvSpPr>
          <p:cNvPr id="10" name="Sprechblase: rechteckig mit abgerundeten Ecken 9">
            <a:extLst>
              <a:ext uri="{FF2B5EF4-FFF2-40B4-BE49-F238E27FC236}">
                <a16:creationId xmlns:a16="http://schemas.microsoft.com/office/drawing/2014/main" id="{6A0AB18A-5B32-1E75-E864-252A57DC4E4A}"/>
              </a:ext>
            </a:extLst>
          </p:cNvPr>
          <p:cNvSpPr/>
          <p:nvPr/>
        </p:nvSpPr>
        <p:spPr>
          <a:xfrm>
            <a:off x="9972307" y="4113333"/>
            <a:ext cx="1844532" cy="1071716"/>
          </a:xfrm>
          <a:prstGeom prst="wedgeRoundRectCallout">
            <a:avLst>
              <a:gd name="adj1" fmla="val -97059"/>
              <a:gd name="adj2" fmla="val 6537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/>
              <a:t>Falsches Passwort erkannt?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1FF4EC2-9905-2F4C-D6AB-C9A05A6BDC2A}"/>
              </a:ext>
            </a:extLst>
          </p:cNvPr>
          <p:cNvSpPr txBox="1">
            <a:spLocks/>
          </p:cNvSpPr>
          <p:nvPr/>
        </p:nvSpPr>
        <p:spPr>
          <a:xfrm>
            <a:off x="1249680" y="4390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dirty="0">
                <a:ea typeface="Calibri Light"/>
                <a:cs typeface="Calibri Light"/>
              </a:rPr>
              <a:t>Security- / Integrations-Tests</a:t>
            </a:r>
          </a:p>
        </p:txBody>
      </p:sp>
    </p:spTree>
    <p:extLst>
      <p:ext uri="{BB962C8B-B14F-4D97-AF65-F5344CB8AC3E}">
        <p14:creationId xmlns:p14="http://schemas.microsoft.com/office/powerpoint/2010/main" val="40553450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D5791-145D-2870-4F68-B316C09CB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9C6AB1-7B42-4CF9-CACB-EFF7DBBB6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35</a:t>
            </a:fld>
            <a:endParaRPr lang="en-US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9ED9295C-532C-A155-17D6-C372BB9532E6}"/>
              </a:ext>
            </a:extLst>
          </p:cNvPr>
          <p:cNvSpPr/>
          <p:nvPr/>
        </p:nvSpPr>
        <p:spPr>
          <a:xfrm>
            <a:off x="9075174" y="1524000"/>
            <a:ext cx="2290916" cy="3637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3469F65F-E3B6-41BD-EA71-A7151417E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910" y="1579229"/>
            <a:ext cx="10163738" cy="4025156"/>
          </a:xfrm>
          <a:prstGeom prst="rect">
            <a:avLst/>
          </a:prstGeom>
        </p:spPr>
      </p:pic>
      <p:sp>
        <p:nvSpPr>
          <p:cNvPr id="10" name="Sprechblase: rechteckig mit abgerundeten Ecken 9">
            <a:extLst>
              <a:ext uri="{FF2B5EF4-FFF2-40B4-BE49-F238E27FC236}">
                <a16:creationId xmlns:a16="http://schemas.microsoft.com/office/drawing/2014/main" id="{966CCA47-2811-FF49-2112-7C6B1F8A835C}"/>
              </a:ext>
            </a:extLst>
          </p:cNvPr>
          <p:cNvSpPr/>
          <p:nvPr/>
        </p:nvSpPr>
        <p:spPr>
          <a:xfrm>
            <a:off x="9900458" y="1956304"/>
            <a:ext cx="1844532" cy="1071716"/>
          </a:xfrm>
          <a:prstGeom prst="wedgeRoundRectCallout">
            <a:avLst>
              <a:gd name="adj1" fmla="val -108786"/>
              <a:gd name="adj2" fmla="val 54244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/>
              <a:t>Kein Token!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B3A0271-E8FF-A6A8-085A-6E9D49EEAB41}"/>
              </a:ext>
            </a:extLst>
          </p:cNvPr>
          <p:cNvSpPr txBox="1">
            <a:spLocks/>
          </p:cNvSpPr>
          <p:nvPr/>
        </p:nvSpPr>
        <p:spPr>
          <a:xfrm>
            <a:off x="1249680" y="4390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dirty="0">
                <a:ea typeface="Calibri Light"/>
                <a:cs typeface="Calibri Light"/>
              </a:rPr>
              <a:t>Security- / Integrations-Tests</a:t>
            </a:r>
          </a:p>
        </p:txBody>
      </p:sp>
    </p:spTree>
    <p:extLst>
      <p:ext uri="{BB962C8B-B14F-4D97-AF65-F5344CB8AC3E}">
        <p14:creationId xmlns:p14="http://schemas.microsoft.com/office/powerpoint/2010/main" val="10561012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C1236-2D00-BBB0-1292-18EF59949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D50C0-1572-D127-7D00-AA6EDEFDA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ea typeface="Calibri Light"/>
                <a:cs typeface="Calibri Light"/>
              </a:rPr>
              <a:t>Fehlerbehandlung</a:t>
            </a:r>
            <a:r>
              <a:rPr lang="en-US">
                <a:ea typeface="Calibri Light"/>
                <a:cs typeface="Calibri Light"/>
              </a:rPr>
              <a:t> </a:t>
            </a:r>
            <a:r>
              <a:rPr lang="en-US" err="1">
                <a:ea typeface="Calibri Light"/>
                <a:cs typeface="Calibri Light"/>
              </a:rPr>
              <a:t>im</a:t>
            </a:r>
            <a:r>
              <a:rPr lang="en-US">
                <a:ea typeface="Calibri Light"/>
                <a:cs typeface="Calibri Light"/>
              </a:rPr>
              <a:t> Backend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46FA3-5A28-A51F-2124-94625EB80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marL="342900" indent="-342900">
              <a:buFont typeface="Arial" panose="020F0502020204030204" pitchFamily="34" charset="0"/>
              <a:buChar char="•"/>
            </a:pPr>
            <a:r>
              <a:rPr lang="en-US">
                <a:ea typeface="Calibri" panose="020F0502020204030204"/>
                <a:cs typeface="Calibri" panose="020F0502020204030204"/>
              </a:rPr>
              <a:t>Experiment: Either Type</a:t>
            </a:r>
          </a:p>
          <a:p>
            <a:pPr marL="342900" indent="-342900">
              <a:buFont typeface="Arial" panose="020F0502020204030204" pitchFamily="34" charset="0"/>
              <a:buChar char="•"/>
            </a:pPr>
            <a:r>
              <a:rPr lang="en-US" err="1">
                <a:ea typeface="Calibri" panose="020F0502020204030204"/>
                <a:cs typeface="Calibri" panose="020F0502020204030204"/>
              </a:rPr>
              <a:t>Bekannt</a:t>
            </a:r>
            <a:r>
              <a:rPr lang="en-US">
                <a:ea typeface="Calibri" panose="020F0502020204030204"/>
                <a:cs typeface="Calibri" panose="020F0502020204030204"/>
              </a:rPr>
              <a:t> </a:t>
            </a:r>
            <a:r>
              <a:rPr lang="en-US" err="1">
                <a:ea typeface="Calibri" panose="020F0502020204030204"/>
                <a:cs typeface="Calibri" panose="020F0502020204030204"/>
              </a:rPr>
              <a:t>aus</a:t>
            </a:r>
            <a:r>
              <a:rPr lang="en-US">
                <a:ea typeface="Calibri" panose="020F0502020204030204"/>
                <a:cs typeface="Calibri" panose="020F0502020204030204"/>
              </a:rPr>
              <a:t> Scala</a:t>
            </a:r>
          </a:p>
          <a:p>
            <a:pPr marL="342900" indent="-342900">
              <a:buFont typeface="Arial" panose="020F0502020204030204" pitchFamily="34" charset="0"/>
              <a:buChar char="•"/>
            </a:pPr>
            <a:r>
              <a:rPr lang="en-US" err="1">
                <a:ea typeface="Calibri" panose="020F0502020204030204"/>
                <a:cs typeface="Calibri" panose="020F0502020204030204"/>
              </a:rPr>
              <a:t>Fehlerfall</a:t>
            </a:r>
            <a:r>
              <a:rPr lang="en-US">
                <a:ea typeface="Calibri" panose="020F0502020204030204"/>
                <a:cs typeface="Calibri" panose="020F0502020204030204"/>
              </a:rPr>
              <a:t> </a:t>
            </a:r>
            <a:r>
              <a:rPr lang="en-US" err="1">
                <a:ea typeface="Calibri" panose="020F0502020204030204"/>
                <a:cs typeface="Calibri" panose="020F0502020204030204"/>
              </a:rPr>
              <a:t>im</a:t>
            </a:r>
            <a:r>
              <a:rPr lang="en-US">
                <a:ea typeface="Calibri" panose="020F0502020204030204"/>
                <a:cs typeface="Calibri" panose="020F0502020204030204"/>
              </a:rPr>
              <a:t> "Left" Case, Success </a:t>
            </a:r>
            <a:r>
              <a:rPr lang="en-US" err="1">
                <a:ea typeface="Calibri" panose="020F0502020204030204"/>
                <a:cs typeface="Calibri" panose="020F0502020204030204"/>
              </a:rPr>
              <a:t>im</a:t>
            </a:r>
            <a:r>
              <a:rPr lang="en-US">
                <a:ea typeface="Calibri" panose="020F0502020204030204"/>
                <a:cs typeface="Calibri" panose="020F0502020204030204"/>
              </a:rPr>
              <a:t> "Right" Case</a:t>
            </a:r>
          </a:p>
          <a:p>
            <a:pPr marL="342900" indent="-342900">
              <a:buFont typeface="Arial" panose="020F0502020204030204" pitchFamily="34" charset="0"/>
              <a:buChar char="•"/>
            </a:pPr>
            <a:r>
              <a:rPr lang="en-US" err="1">
                <a:ea typeface="Calibri" panose="020F0502020204030204"/>
                <a:cs typeface="Calibri" panose="020F0502020204030204"/>
              </a:rPr>
              <a:t>Nahtloses</a:t>
            </a:r>
            <a:r>
              <a:rPr lang="en-US">
                <a:ea typeface="Calibri" panose="020F0502020204030204"/>
                <a:cs typeface="Calibri" panose="020F0502020204030204"/>
              </a:rPr>
              <a:t> </a:t>
            </a:r>
            <a:r>
              <a:rPr lang="en-US" err="1">
                <a:ea typeface="Calibri" panose="020F0502020204030204"/>
                <a:cs typeface="Calibri" panose="020F0502020204030204"/>
              </a:rPr>
              <a:t>aneinanderschachteln</a:t>
            </a:r>
            <a:r>
              <a:rPr lang="en-US">
                <a:ea typeface="Calibri" panose="020F0502020204030204"/>
                <a:cs typeface="Calibri" panose="020F0502020204030204"/>
              </a:rPr>
              <a:t> der Eithers</a:t>
            </a:r>
          </a:p>
          <a:p>
            <a:pPr>
              <a:buFont typeface="Arial" panose="020F0502020204030204" pitchFamily="34" charset="0"/>
              <a:buChar char="•"/>
            </a:pP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74EBB7-041B-BAB9-E1EA-B6D794D09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36</a:t>
            </a:fld>
            <a:endParaRPr lang="en-US"/>
          </a:p>
        </p:txBody>
      </p:sp>
      <p:pic>
        <p:nvPicPr>
          <p:cNvPr id="6" name="Picture 5" descr="A screenshot of a computer error message&#10;&#10;AI-generated content may be incorrect.">
            <a:extLst>
              <a:ext uri="{FF2B5EF4-FFF2-40B4-BE49-F238E27FC236}">
                <a16:creationId xmlns:a16="http://schemas.microsoft.com/office/drawing/2014/main" id="{7FCC585D-5C9E-37DD-FA86-46B9E738B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49" y="3778082"/>
            <a:ext cx="10508226" cy="1964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6740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9F950-C430-8292-799C-8D2C17EB8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EE587-05CD-AAAB-81F6-7E8533B1B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Supply Chain Attacks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668F1-89BB-0F8A-4E43-C4B4086CB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marL="342900" indent="-342900">
              <a:buFont typeface="Arial" panose="020F0502020204030204" pitchFamily="34" charset="0"/>
              <a:buChar char="•"/>
            </a:pPr>
            <a:r>
              <a:rPr lang="en-US" err="1">
                <a:solidFill>
                  <a:srgbClr val="404040"/>
                </a:solidFill>
                <a:ea typeface="Calibri" panose="020F0502020204030204"/>
                <a:cs typeface="Calibri" panose="020F0502020204030204"/>
              </a:rPr>
              <a:t>Verwendung</a:t>
            </a:r>
            <a:r>
              <a:rPr lang="en-US">
                <a:solidFill>
                  <a:srgbClr val="404040"/>
                </a:solidFill>
                <a:ea typeface="Calibri" panose="020F0502020204030204"/>
                <a:cs typeface="Calibri" panose="020F0502020204030204"/>
              </a:rPr>
              <a:t> </a:t>
            </a:r>
            <a:r>
              <a:rPr lang="en-US" err="1">
                <a:solidFill>
                  <a:srgbClr val="404040"/>
                </a:solidFill>
                <a:ea typeface="Calibri" panose="020F0502020204030204"/>
                <a:cs typeface="Calibri" panose="020F0502020204030204"/>
              </a:rPr>
              <a:t>weniger</a:t>
            </a:r>
            <a:r>
              <a:rPr lang="en-US">
                <a:solidFill>
                  <a:srgbClr val="404040"/>
                </a:solidFill>
                <a:ea typeface="Calibri" panose="020F0502020204030204"/>
                <a:cs typeface="Calibri" panose="020F0502020204030204"/>
              </a:rPr>
              <a:t> Dependencies </a:t>
            </a:r>
            <a:r>
              <a:rPr lang="en-US" err="1">
                <a:solidFill>
                  <a:srgbClr val="404040"/>
                </a:solidFill>
                <a:ea typeface="Calibri" panose="020F0502020204030204"/>
                <a:cs typeface="Calibri" panose="020F0502020204030204"/>
              </a:rPr>
              <a:t>mit</a:t>
            </a:r>
            <a:r>
              <a:rPr lang="en-US">
                <a:solidFill>
                  <a:srgbClr val="404040"/>
                </a:solidFill>
                <a:ea typeface="Calibri" panose="020F0502020204030204"/>
                <a:cs typeface="Calibri" panose="020F0502020204030204"/>
              </a:rPr>
              <a:t> </a:t>
            </a:r>
            <a:r>
              <a:rPr lang="en-US" err="1">
                <a:solidFill>
                  <a:srgbClr val="404040"/>
                </a:solidFill>
                <a:ea typeface="Calibri" panose="020F0502020204030204"/>
                <a:cs typeface="Calibri" panose="020F0502020204030204"/>
              </a:rPr>
              <a:t>festen</a:t>
            </a:r>
            <a:r>
              <a:rPr lang="en-US">
                <a:solidFill>
                  <a:srgbClr val="404040"/>
                </a:solidFill>
                <a:ea typeface="Calibri" panose="020F0502020204030204"/>
                <a:cs typeface="Calibri" panose="020F0502020204030204"/>
              </a:rPr>
              <a:t> </a:t>
            </a:r>
            <a:r>
              <a:rPr lang="en-US" err="1">
                <a:solidFill>
                  <a:srgbClr val="404040"/>
                </a:solidFill>
                <a:ea typeface="Calibri" panose="020F0502020204030204"/>
                <a:cs typeface="Calibri" panose="020F0502020204030204"/>
              </a:rPr>
              <a:t>Versionen</a:t>
            </a:r>
            <a:r>
              <a:rPr lang="en-US">
                <a:solidFill>
                  <a:srgbClr val="404040"/>
                </a:solidFill>
                <a:ea typeface="Calibri" panose="020F0502020204030204"/>
                <a:cs typeface="Calibri" panose="020F0502020204030204"/>
              </a:rPr>
              <a:t> 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F0502020204030204" pitchFamily="34" charset="0"/>
              <a:buChar char="•"/>
            </a:pPr>
            <a:r>
              <a:rPr lang="en-US">
                <a:ea typeface="Calibri" panose="020F0502020204030204"/>
                <a:cs typeface="Calibri" panose="020F0502020204030204"/>
              </a:rPr>
              <a:t> In Frontend, Backend und </a:t>
            </a:r>
            <a:r>
              <a:rPr lang="en-US" err="1">
                <a:ea typeface="Calibri" panose="020F0502020204030204"/>
                <a:cs typeface="Calibri" panose="020F0502020204030204"/>
              </a:rPr>
              <a:t>Github</a:t>
            </a:r>
            <a:r>
              <a:rPr lang="en-US">
                <a:ea typeface="Calibri" panose="020F0502020204030204"/>
                <a:cs typeface="Calibri" panose="020F0502020204030204"/>
              </a:rPr>
              <a:t> Action Workflows</a:t>
            </a:r>
          </a:p>
          <a:p>
            <a:pPr marL="0" indent="0">
              <a:buNone/>
            </a:pPr>
            <a:endParaRPr lang="en-US">
              <a:ea typeface="Calibri" panose="020F0502020204030204"/>
              <a:cs typeface="Calibri" panose="020F0502020204030204"/>
            </a:endParaRPr>
          </a:p>
          <a:p>
            <a:pPr>
              <a:buFont typeface="Arial" panose="020F0502020204030204" pitchFamily="34" charset="0"/>
              <a:buChar char="•"/>
            </a:pPr>
            <a:endParaRPr lang="en-US">
              <a:ea typeface="Calibri" panose="020F0502020204030204"/>
              <a:cs typeface="Calibri" panose="020F0502020204030204"/>
            </a:endParaRPr>
          </a:p>
          <a:p>
            <a:pPr>
              <a:buFont typeface="Arial" panose="020F0502020204030204" pitchFamily="34" charset="0"/>
              <a:buChar char="•"/>
            </a:pP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3E168-6B38-BC62-C6C4-300273C8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37</a:t>
            </a:fld>
            <a:endParaRPr lang="en-US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EE1F17B-F638-41EC-1B98-069F677B7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174" y="3109012"/>
            <a:ext cx="8054377" cy="225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5831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F02D0-C35B-6E2D-38AE-5582F672F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45572-2633-75F1-9DDA-1BF4F34F2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ea typeface="Calibri Light"/>
                <a:cs typeface="Calibri Light"/>
              </a:rPr>
              <a:t>Besonderheiten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B0907-C017-A769-9B33-AC2487EE1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marL="342900" indent="-342900">
              <a:buFont typeface="Arial" panose="020F0502020204030204" pitchFamily="34" charset="0"/>
              <a:buChar char="•"/>
            </a:pPr>
            <a:r>
              <a:rPr lang="en-US" dirty="0">
                <a:ea typeface="Calibri" panose="020F0502020204030204"/>
                <a:cs typeface="Calibri" panose="020F0502020204030204"/>
              </a:rPr>
              <a:t>“Either” Type</a:t>
            </a:r>
            <a:endParaRPr lang="en-US" dirty="0"/>
          </a:p>
          <a:p>
            <a:pPr marL="342900" indent="-342900">
              <a:buFont typeface="Arial" panose="020F0502020204030204" pitchFamily="34" charset="0"/>
              <a:buChar char="•"/>
            </a:pPr>
            <a:r>
              <a:rPr lang="en-US" dirty="0" err="1">
                <a:ea typeface="Calibri" panose="020F0502020204030204"/>
                <a:cs typeface="Calibri" panose="020F0502020204030204"/>
              </a:rPr>
              <a:t>npm</a:t>
            </a:r>
            <a:r>
              <a:rPr lang="en-US" dirty="0">
                <a:ea typeface="Calibri" panose="020F0502020204030204"/>
                <a:cs typeface="Calibri" panose="020F0502020204030204"/>
              </a:rPr>
              <a:t>-Supply-Chain</a:t>
            </a:r>
          </a:p>
          <a:p>
            <a:pPr marL="342900" indent="-342900">
              <a:buFont typeface="Arial" panose="020F0502020204030204" pitchFamily="34" charset="0"/>
              <a:buChar char="•"/>
            </a:pPr>
            <a:r>
              <a:rPr lang="en-US" dirty="0">
                <a:ea typeface="Calibri" panose="020F0502020204030204"/>
                <a:cs typeface="Calibri" panose="020F0502020204030204"/>
              </a:rPr>
              <a:t>Docs: </a:t>
            </a:r>
          </a:p>
          <a:p>
            <a:pPr marL="635508" lvl="1" indent="-342900">
              <a:buFont typeface="Arial" panose="020F0502020204030204" pitchFamily="34" charset="0"/>
              <a:buChar char="•"/>
            </a:pPr>
            <a:r>
              <a:rPr lang="en-US" dirty="0">
                <a:ea typeface="Calibri" panose="020F0502020204030204"/>
                <a:cs typeface="Calibri" panose="020F0502020204030204"/>
              </a:rPr>
              <a:t>Spell Checking </a:t>
            </a:r>
          </a:p>
          <a:p>
            <a:pPr marL="635508" lvl="1" indent="-342900">
              <a:buFont typeface="Arial" panose="020F0502020204030204" pitchFamily="34" charset="0"/>
              <a:buChar char="•"/>
            </a:pPr>
            <a:r>
              <a:rPr lang="en-US" dirty="0" err="1">
                <a:ea typeface="Calibri" panose="020F0502020204030204"/>
                <a:cs typeface="Calibri" panose="020F0502020204030204"/>
              </a:rPr>
              <a:t>Formatierung</a:t>
            </a:r>
            <a:r>
              <a:rPr lang="en-US" dirty="0">
                <a:ea typeface="Calibri" panose="020F0502020204030204"/>
                <a:cs typeface="Calibri" panose="020F0502020204030204"/>
              </a:rPr>
              <a:t> von Markdown-</a:t>
            </a:r>
            <a:r>
              <a:rPr lang="en-US" dirty="0" err="1">
                <a:ea typeface="Calibri" panose="020F0502020204030204"/>
                <a:cs typeface="Calibri" panose="020F0502020204030204"/>
              </a:rPr>
              <a:t>Tabellen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635508" lvl="1" indent="-342900">
              <a:buFont typeface="Arial" panose="020F0502020204030204" pitchFamily="34" charset="0"/>
              <a:buChar char="•"/>
            </a:pPr>
            <a:r>
              <a:rPr lang="en-US" dirty="0" err="1">
                <a:ea typeface="Calibri" panose="020F0502020204030204"/>
                <a:cs typeface="Calibri" panose="020F0502020204030204"/>
              </a:rPr>
              <a:t>Automatische</a:t>
            </a:r>
            <a:r>
              <a:rPr lang="en-US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dirty="0" err="1">
                <a:ea typeface="Calibri" panose="020F0502020204030204"/>
                <a:cs typeface="Calibri" panose="020F0502020204030204"/>
              </a:rPr>
              <a:t>Generierung</a:t>
            </a:r>
            <a:r>
              <a:rPr lang="en-US" dirty="0">
                <a:ea typeface="Calibri" panose="020F0502020204030204"/>
                <a:cs typeface="Calibri" panose="020F0502020204030204"/>
              </a:rPr>
              <a:t> von </a:t>
            </a:r>
            <a:r>
              <a:rPr lang="en-US" dirty="0" err="1">
                <a:ea typeface="Calibri" panose="020F0502020204030204"/>
                <a:cs typeface="Calibri" panose="020F0502020204030204"/>
              </a:rPr>
              <a:t>Grafiken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F0502020204030204" pitchFamily="34" charset="0"/>
              <a:buChar char="•"/>
            </a:pPr>
            <a:r>
              <a:rPr lang="en-US" dirty="0">
                <a:ea typeface="Calibri" panose="020F0502020204030204"/>
                <a:cs typeface="Calibri" panose="020F0502020204030204"/>
              </a:rPr>
              <a:t>Start-/ </a:t>
            </a:r>
            <a:r>
              <a:rPr lang="en-US" dirty="0" err="1">
                <a:ea typeface="Calibri" panose="020F0502020204030204"/>
                <a:cs typeface="Calibri" panose="020F0502020204030204"/>
              </a:rPr>
              <a:t>Endskript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635508" lvl="1" indent="-342900">
              <a:buFont typeface="Arial" panose="020F0502020204030204" pitchFamily="34" charset="0"/>
              <a:buChar char="•"/>
            </a:pPr>
            <a:r>
              <a:rPr lang="en-US" dirty="0">
                <a:ea typeface="Calibri" panose="020F0502020204030204"/>
                <a:cs typeface="Calibri" panose="020F0502020204030204"/>
              </a:rPr>
              <a:t>Seed-Admin </a:t>
            </a:r>
          </a:p>
          <a:p>
            <a:pPr marL="635508" lvl="1" indent="-342900">
              <a:buFont typeface="Arial" panose="020F0502020204030204" pitchFamily="34" charset="0"/>
              <a:buChar char="•"/>
            </a:pPr>
            <a:r>
              <a:rPr lang="en-US" dirty="0" err="1">
                <a:ea typeface="Calibri" panose="020F0502020204030204"/>
                <a:cs typeface="Calibri" panose="020F0502020204030204"/>
              </a:rPr>
              <a:t>Trennung</a:t>
            </a:r>
            <a:r>
              <a:rPr lang="en-US" dirty="0">
                <a:ea typeface="Calibri" panose="020F0502020204030204"/>
                <a:cs typeface="Calibri" panose="020F0502020204030204"/>
              </a:rPr>
              <a:t> in .secrets/ und .env</a:t>
            </a:r>
          </a:p>
          <a:p>
            <a:pPr marL="342900" indent="-342900">
              <a:buFont typeface="Arial" panose="020F0502020204030204" pitchFamily="34" charset="0"/>
              <a:buChar char="•"/>
            </a:pPr>
            <a:r>
              <a:rPr lang="en-US" dirty="0" err="1">
                <a:ea typeface="Calibri" panose="020F0502020204030204"/>
                <a:cs typeface="Calibri" panose="020F0502020204030204"/>
              </a:rPr>
              <a:t>Statische</a:t>
            </a:r>
            <a:r>
              <a:rPr lang="en-US" dirty="0">
                <a:ea typeface="Calibri" panose="020F0502020204030204"/>
                <a:cs typeface="Calibri" panose="020F0502020204030204"/>
              </a:rPr>
              <a:t> Code-</a:t>
            </a:r>
            <a:r>
              <a:rPr lang="en-US" dirty="0" err="1">
                <a:ea typeface="Calibri" panose="020F0502020204030204"/>
                <a:cs typeface="Calibri" panose="020F0502020204030204"/>
              </a:rPr>
              <a:t>Analyse</a:t>
            </a:r>
            <a:r>
              <a:rPr lang="en-US" dirty="0">
                <a:ea typeface="Calibri" panose="020F0502020204030204"/>
                <a:cs typeface="Calibri" panose="020F0502020204030204"/>
              </a:rPr>
              <a:t> </a:t>
            </a:r>
            <a:r>
              <a:rPr lang="en-US" dirty="0" err="1">
                <a:ea typeface="Calibri" panose="020F0502020204030204"/>
                <a:cs typeface="Calibri" panose="020F0502020204030204"/>
              </a:rPr>
              <a:t>inkl</a:t>
            </a:r>
            <a:r>
              <a:rPr lang="en-US" dirty="0">
                <a:ea typeface="Calibri" panose="020F0502020204030204"/>
                <a:cs typeface="Calibri" panose="020F0502020204030204"/>
              </a:rPr>
              <a:t>. </a:t>
            </a:r>
            <a:r>
              <a:rPr lang="en-US" dirty="0" err="1">
                <a:ea typeface="Calibri" panose="020F0502020204030204"/>
                <a:cs typeface="Calibri" panose="020F0502020204030204"/>
              </a:rPr>
              <a:t>Architekturtests</a:t>
            </a:r>
            <a:r>
              <a:rPr lang="en-US" dirty="0">
                <a:ea typeface="Calibri" panose="020F0502020204030204"/>
                <a:cs typeface="Calibri" panose="020F0502020204030204"/>
              </a:rPr>
              <a:t> </a:t>
            </a:r>
            <a:r>
              <a:rPr lang="en-US" dirty="0" err="1">
                <a:ea typeface="Calibri" panose="020F0502020204030204"/>
                <a:cs typeface="Calibri" panose="020F0502020204030204"/>
              </a:rPr>
              <a:t>im</a:t>
            </a:r>
            <a:r>
              <a:rPr lang="en-US" dirty="0">
                <a:ea typeface="Calibri" panose="020F0502020204030204"/>
                <a:cs typeface="Calibri" panose="020F0502020204030204"/>
              </a:rPr>
              <a:t> Frontend</a:t>
            </a:r>
            <a:endParaRPr lang="en-US" dirty="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>
              <a:buFont typeface="Arial" panose="020F0502020204030204" pitchFamily="34" charset="0"/>
              <a:buChar char="•"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>
              <a:buFont typeface="Arial" panose="020F0502020204030204" pitchFamily="34" charset="0"/>
              <a:buChar char="•"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>
              <a:buFont typeface="Arial" panose="020F0502020204030204" pitchFamily="34" charset="0"/>
              <a:buChar char="•"/>
            </a:pP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765296-3C17-0809-C06D-A6DD91A27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84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: abgerundete Ecken 34">
            <a:extLst>
              <a:ext uri="{FF2B5EF4-FFF2-40B4-BE49-F238E27FC236}">
                <a16:creationId xmlns:a16="http://schemas.microsoft.com/office/drawing/2014/main" id="{79170C62-E42E-BA97-3419-2CF188A299B6}"/>
              </a:ext>
            </a:extLst>
          </p:cNvPr>
          <p:cNvSpPr/>
          <p:nvPr/>
        </p:nvSpPr>
        <p:spPr>
          <a:xfrm>
            <a:off x="7727855" y="1840106"/>
            <a:ext cx="3965196" cy="194499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Rechteck: abgerundete Ecken 33">
            <a:extLst>
              <a:ext uri="{FF2B5EF4-FFF2-40B4-BE49-F238E27FC236}">
                <a16:creationId xmlns:a16="http://schemas.microsoft.com/office/drawing/2014/main" id="{F9969BEB-16A3-5524-108C-CDDDDC27B8FA}"/>
              </a:ext>
            </a:extLst>
          </p:cNvPr>
          <p:cNvSpPr/>
          <p:nvPr/>
        </p:nvSpPr>
        <p:spPr>
          <a:xfrm>
            <a:off x="7729057" y="4357763"/>
            <a:ext cx="3965196" cy="168941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C50E9F1-F084-E7F5-8D63-B9337E385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Applikation starten und einrichten</a:t>
            </a:r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A3299E53-D88F-1406-B356-1E81121329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3796" y="2788606"/>
            <a:ext cx="1530030" cy="1687323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486BD2B-A807-7ADB-4A9D-3B70F044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39</a:t>
            </a:fld>
            <a:endParaRPr lang="en-US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C4AA7AAA-9708-1036-6763-F6BBCABA80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63" y="1737360"/>
            <a:ext cx="1894908" cy="1894908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9CB9D422-E802-24A5-F857-AEE1D78534B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3693" y="1779305"/>
            <a:ext cx="1894908" cy="1894908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63EC8E00-E968-3B5F-97AD-BA94468FE27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4086375"/>
            <a:ext cx="1591472" cy="1591472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3CDBEC33-4B20-D3A1-D1FE-AB317915D425}"/>
              </a:ext>
            </a:extLst>
          </p:cNvPr>
          <p:cNvSpPr txBox="1"/>
          <p:nvPr/>
        </p:nvSpPr>
        <p:spPr>
          <a:xfrm>
            <a:off x="1398311" y="3415768"/>
            <a:ext cx="894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Vorlage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996DA832-158D-701B-8DC2-1C75884BF74C}"/>
              </a:ext>
            </a:extLst>
          </p:cNvPr>
          <p:cNvSpPr txBox="1"/>
          <p:nvPr/>
        </p:nvSpPr>
        <p:spPr>
          <a:xfrm>
            <a:off x="1009441" y="5677847"/>
            <a:ext cx="1767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Benutzereingabe</a:t>
            </a:r>
          </a:p>
        </p:txBody>
      </p:sp>
      <p:pic>
        <p:nvPicPr>
          <p:cNvPr id="19" name="Grafik 18" descr="Geöffneter Ordner Silhouette">
            <a:extLst>
              <a:ext uri="{FF2B5EF4-FFF2-40B4-BE49-F238E27FC236}">
                <a16:creationId xmlns:a16="http://schemas.microsoft.com/office/drawing/2014/main" id="{D621CEC1-DCFA-7EF8-F4C9-5FBCB2202D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29057" y="4374541"/>
            <a:ext cx="1427201" cy="1427201"/>
          </a:xfrm>
          <a:prstGeom prst="rect">
            <a:avLst/>
          </a:prstGeom>
        </p:spPr>
      </p:pic>
      <p:sp>
        <p:nvSpPr>
          <p:cNvPr id="20" name="Textfeld 19">
            <a:extLst>
              <a:ext uri="{FF2B5EF4-FFF2-40B4-BE49-F238E27FC236}">
                <a16:creationId xmlns:a16="http://schemas.microsoft.com/office/drawing/2014/main" id="{B73EA1F8-9D1F-05C5-70FA-040324947663}"/>
              </a:ext>
            </a:extLst>
          </p:cNvPr>
          <p:cNvSpPr txBox="1"/>
          <p:nvPr/>
        </p:nvSpPr>
        <p:spPr>
          <a:xfrm>
            <a:off x="7929944" y="5677847"/>
            <a:ext cx="993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.</a:t>
            </a:r>
            <a:r>
              <a:rPr lang="de-DE" dirty="0" err="1"/>
              <a:t>secrets</a:t>
            </a:r>
            <a:r>
              <a:rPr lang="de-DE" dirty="0"/>
              <a:t>/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BBCC671F-782C-8BD2-6466-31B65F4CC6EE}"/>
              </a:ext>
            </a:extLst>
          </p:cNvPr>
          <p:cNvSpPr txBox="1"/>
          <p:nvPr/>
        </p:nvSpPr>
        <p:spPr>
          <a:xfrm>
            <a:off x="8137821" y="3407461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.</a:t>
            </a:r>
            <a:r>
              <a:rPr lang="de-DE" dirty="0" err="1"/>
              <a:t>env</a:t>
            </a:r>
            <a:endParaRPr lang="de-DE" dirty="0"/>
          </a:p>
        </p:txBody>
      </p: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4077D3EB-D387-36B1-52CF-EB1209B67FF5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2792971" y="2684814"/>
            <a:ext cx="1429109" cy="64446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F396945F-4E9C-7F7A-9EE8-EA63D65CD18A}"/>
              </a:ext>
            </a:extLst>
          </p:cNvPr>
          <p:cNvCxnSpPr>
            <a:cxnSpLocks/>
          </p:cNvCxnSpPr>
          <p:nvPr/>
        </p:nvCxnSpPr>
        <p:spPr>
          <a:xfrm flipV="1">
            <a:off x="2910679" y="4236440"/>
            <a:ext cx="1384484" cy="64567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FF754EB9-6749-9E71-0979-D3E70CAEE204}"/>
              </a:ext>
            </a:extLst>
          </p:cNvPr>
          <p:cNvCxnSpPr>
            <a:cxnSpLocks/>
          </p:cNvCxnSpPr>
          <p:nvPr/>
        </p:nvCxnSpPr>
        <p:spPr>
          <a:xfrm>
            <a:off x="6271214" y="4137652"/>
            <a:ext cx="1277328" cy="51644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37DDB60B-9533-ECD0-99B2-B95CF0052ADD}"/>
              </a:ext>
            </a:extLst>
          </p:cNvPr>
          <p:cNvCxnSpPr>
            <a:cxnSpLocks/>
          </p:cNvCxnSpPr>
          <p:nvPr/>
        </p:nvCxnSpPr>
        <p:spPr>
          <a:xfrm flipV="1">
            <a:off x="6298585" y="2877424"/>
            <a:ext cx="1249957" cy="45185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CEC39D74-7CD3-872C-B2F4-A7AC6F3FE62B}"/>
              </a:ext>
            </a:extLst>
          </p:cNvPr>
          <p:cNvSpPr txBox="1"/>
          <p:nvPr/>
        </p:nvSpPr>
        <p:spPr>
          <a:xfrm>
            <a:off x="4441346" y="4512506"/>
            <a:ext cx="1614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./start-script.sh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9A5FB0D6-A5AD-BEB3-101D-F7B68828E1E7}"/>
              </a:ext>
            </a:extLst>
          </p:cNvPr>
          <p:cNvSpPr txBox="1">
            <a:spLocks/>
          </p:cNvSpPr>
          <p:nvPr/>
        </p:nvSpPr>
        <p:spPr>
          <a:xfrm>
            <a:off x="9155444" y="4454871"/>
            <a:ext cx="2803601" cy="1417202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  <a:buFont typeface="Arial" panose="020F0502020204030204" pitchFamily="34" charset="0"/>
              <a:buChar char="•"/>
            </a:pPr>
            <a:r>
              <a:rPr lang="en-US" dirty="0">
                <a:ea typeface="Calibri"/>
                <a:cs typeface="Calibri"/>
              </a:rPr>
              <a:t> Admin-Username</a:t>
            </a:r>
          </a:p>
          <a:p>
            <a:pPr marL="342900" indent="-342900">
              <a:lnSpc>
                <a:spcPct val="100000"/>
              </a:lnSpc>
              <a:buFont typeface="Arial" panose="020F0502020204030204" pitchFamily="34" charset="0"/>
              <a:buChar char="•"/>
            </a:pPr>
            <a:r>
              <a:rPr lang="en-US" dirty="0">
                <a:ea typeface="Calibri"/>
                <a:cs typeface="Calibri"/>
              </a:rPr>
              <a:t>Admin-</a:t>
            </a:r>
            <a:r>
              <a:rPr lang="en-US" dirty="0" err="1">
                <a:ea typeface="Calibri"/>
                <a:cs typeface="Calibri"/>
              </a:rPr>
              <a:t>Passwort</a:t>
            </a:r>
            <a:endParaRPr lang="en-US" dirty="0">
              <a:ea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buFont typeface="Arial" panose="020F0502020204030204" pitchFamily="34" charset="0"/>
              <a:buChar char="•"/>
            </a:pPr>
            <a:r>
              <a:rPr lang="en-US" dirty="0" err="1">
                <a:ea typeface="Calibri"/>
                <a:cs typeface="Calibri"/>
              </a:rPr>
              <a:t>Datenbank-Passwort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4B135F25-740C-DDBE-335C-36AB9D2F7058}"/>
              </a:ext>
            </a:extLst>
          </p:cNvPr>
          <p:cNvSpPr txBox="1">
            <a:spLocks/>
          </p:cNvSpPr>
          <p:nvPr/>
        </p:nvSpPr>
        <p:spPr>
          <a:xfrm>
            <a:off x="9155443" y="2168823"/>
            <a:ext cx="2803601" cy="1417202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  <a:buFont typeface="Arial" panose="020F0502020204030204" pitchFamily="34" charset="0"/>
              <a:buChar char="•"/>
            </a:pPr>
            <a:r>
              <a:rPr lang="en-US" dirty="0">
                <a:ea typeface="Calibri"/>
                <a:cs typeface="Calibri"/>
              </a:rPr>
              <a:t> </a:t>
            </a:r>
            <a:r>
              <a:rPr lang="en-US" dirty="0" err="1">
                <a:ea typeface="Calibri"/>
                <a:cs typeface="Calibri"/>
              </a:rPr>
              <a:t>Datenbank</a:t>
            </a:r>
            <a:r>
              <a:rPr lang="en-US" dirty="0">
                <a:ea typeface="Calibri"/>
                <a:cs typeface="Calibri"/>
              </a:rPr>
              <a:t>-Name</a:t>
            </a:r>
          </a:p>
          <a:p>
            <a:pPr marL="342900" indent="-342900">
              <a:lnSpc>
                <a:spcPct val="100000"/>
              </a:lnSpc>
              <a:buFont typeface="Arial" panose="020F0502020204030204" pitchFamily="34" charset="0"/>
              <a:buChar char="•"/>
            </a:pPr>
            <a:r>
              <a:rPr lang="en-US" dirty="0">
                <a:ea typeface="Calibri"/>
                <a:cs typeface="Calibri"/>
              </a:rPr>
              <a:t>Ports</a:t>
            </a:r>
          </a:p>
          <a:p>
            <a:pPr marL="342900" indent="-342900">
              <a:lnSpc>
                <a:spcPct val="100000"/>
              </a:lnSpc>
              <a:buFont typeface="Arial" panose="020F0502020204030204" pitchFamily="34" charset="0"/>
              <a:buChar char="•"/>
            </a:pPr>
            <a:r>
              <a:rPr lang="en-US" dirty="0">
                <a:ea typeface="Calibri"/>
                <a:cs typeface="Calibri"/>
              </a:rPr>
              <a:t>URLs</a:t>
            </a:r>
          </a:p>
        </p:txBody>
      </p:sp>
    </p:spTree>
    <p:extLst>
      <p:ext uri="{BB962C8B-B14F-4D97-AF65-F5344CB8AC3E}">
        <p14:creationId xmlns:p14="http://schemas.microsoft.com/office/powerpoint/2010/main" val="2175708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4" grpId="0" animBg="1"/>
      <p:bldP spid="12" grpId="0"/>
      <p:bldP spid="13" grpId="0"/>
      <p:bldP spid="20" grpId="0"/>
      <p:bldP spid="21" grpId="0"/>
      <p:bldP spid="30" grpId="0"/>
      <p:bldP spid="3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9B507-2866-62A1-7A34-AE701647B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AE24CD88-7088-912B-0A45-32BEA2BE1A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63" r="12781"/>
          <a:stretch>
            <a:fillRect/>
          </a:stretch>
        </p:blipFill>
        <p:spPr>
          <a:xfrm>
            <a:off x="0" y="0"/>
            <a:ext cx="12192000" cy="642669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290E3-9128-ED5E-7C85-7EFF2DCB2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553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CC4892-27E6-8AE0-C6D9-CE441778B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983D8-3BD3-376B-1A45-C9997F65E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Bild- und </a:t>
            </a:r>
            <a:r>
              <a:rPr lang="en-US" dirty="0" err="1">
                <a:ea typeface="Calibri Light"/>
                <a:cs typeface="Calibri Light"/>
              </a:rPr>
              <a:t>Quellverzeichnis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A4FC4-B535-4A27-EA41-4710448BB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421257" cy="4023360"/>
          </a:xfrm>
        </p:spPr>
        <p:txBody>
          <a:bodyPr vert="horz" lIns="0" tIns="45720" rIns="0" bIns="45720" rtlCol="0" anchor="t">
            <a:normAutofit/>
          </a:bodyPr>
          <a:lstStyle/>
          <a:p>
            <a:pPr marL="342900" indent="-342900">
              <a:buFont typeface="Arial" panose="020F050202020403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https://www.scala-lang.org/api/3.x/scala/util/Either.html</a:t>
            </a:r>
          </a:p>
          <a:p>
            <a:pPr marL="342900" indent="-342900">
              <a:buFont typeface="Arial" panose="020F050202020403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https://playwright.dev/docs/pom</a:t>
            </a:r>
          </a:p>
          <a:p>
            <a:pPr marL="342900" indent="-342900">
              <a:buFont typeface="Arial" panose="020F0502020204030204" pitchFamily="34" charset="0"/>
              <a:buChar char="•"/>
            </a:pPr>
            <a:r>
              <a:rPr lang="de-DE" dirty="0"/>
              <a:t>https://grafana.com/docs/k6/latest/</a:t>
            </a:r>
          </a:p>
          <a:p>
            <a:pPr marL="342900" indent="-342900">
              <a:buFont typeface="Arial" panose="020F0502020204030204" pitchFamily="34" charset="0"/>
              <a:buChar char="•"/>
            </a:pPr>
            <a:r>
              <a:rPr lang="de-DE" dirty="0"/>
              <a:t>https://uxwing.com/bash-code-file-black-icon/</a:t>
            </a:r>
          </a:p>
          <a:p>
            <a:pPr marL="342900" indent="-342900">
              <a:buFont typeface="Arial" panose="020F0502020204030204" pitchFamily="34" charset="0"/>
              <a:buChar char="•"/>
            </a:pPr>
            <a:r>
              <a:rPr lang="de-DE" dirty="0"/>
              <a:t>https://user-images.githubusercontent.com/45191605/274121951-21239cc4-37b3-4dd2-864f-d5f528da4e22.png</a:t>
            </a:r>
          </a:p>
          <a:p>
            <a:pPr marL="342900" indent="-342900">
              <a:buFont typeface="Arial" panose="020F0502020204030204" pitchFamily="34" charset="0"/>
              <a:buChar char="•"/>
            </a:pPr>
            <a:r>
              <a:rPr lang="de-DE" dirty="0"/>
              <a:t>https://www.flaticon.com/free-icon/keyboard_689392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4630BB-C8EE-431D-2CE2-85F60456F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27315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1132</Words>
  <Application>Microsoft Office PowerPoint</Application>
  <PresentationFormat>Breitbild</PresentationFormat>
  <Paragraphs>325</Paragraphs>
  <Slides>41</Slides>
  <Notes>35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41</vt:i4>
      </vt:variant>
    </vt:vector>
  </HeadingPairs>
  <TitlesOfParts>
    <vt:vector size="45" baseType="lpstr">
      <vt:lpstr>Arial</vt:lpstr>
      <vt:lpstr>Calibri</vt:lpstr>
      <vt:lpstr>Calibri Light</vt:lpstr>
      <vt:lpstr>Retrospect</vt:lpstr>
      <vt:lpstr>Chuck-Norris- Joke-Service</vt:lpstr>
      <vt:lpstr>Idee</vt:lpstr>
      <vt:lpstr>Scope</vt:lpstr>
      <vt:lpstr>Scope</vt:lpstr>
      <vt:lpstr>Scope</vt:lpstr>
      <vt:lpstr>Scope</vt:lpstr>
      <vt:lpstr>Scope</vt:lpstr>
      <vt:lpstr>Live Demo</vt:lpstr>
      <vt:lpstr>SonarCloud</vt:lpstr>
      <vt:lpstr>Monorepo-Projektstruktur</vt:lpstr>
      <vt:lpstr>Monorepo-Projektstruktur</vt:lpstr>
      <vt:lpstr>Monorepo-Projektstruktur</vt:lpstr>
      <vt:lpstr>Monorepo-Projektstruktur</vt:lpstr>
      <vt:lpstr>Monorepo-Projektstruktur</vt:lpstr>
      <vt:lpstr>Monorepo-Projektstruktur</vt:lpstr>
      <vt:lpstr>Level 1: Context</vt:lpstr>
      <vt:lpstr>Level 2: Containers</vt:lpstr>
      <vt:lpstr>Level 3: Frontend-Components</vt:lpstr>
      <vt:lpstr>Level 3: Backend-Components</vt:lpstr>
      <vt:lpstr>Level 4:  Backend-Code</vt:lpstr>
      <vt:lpstr>Level 4:  Backend-Code</vt:lpstr>
      <vt:lpstr>Unit Tests  - Frontend</vt:lpstr>
      <vt:lpstr>Unit Tests  - Backend</vt:lpstr>
      <vt:lpstr>Architekturtests  - Backend</vt:lpstr>
      <vt:lpstr>Architekturtests  - Backend</vt:lpstr>
      <vt:lpstr>Architekturtests  - Frontend</vt:lpstr>
      <vt:lpstr>Load Tests</vt:lpstr>
      <vt:lpstr>Load Tests</vt:lpstr>
      <vt:lpstr>E2E Tests: Playwright</vt:lpstr>
      <vt:lpstr>Security- / Integrations-Tests</vt:lpstr>
      <vt:lpstr>Security- / Integrations-Tests</vt:lpstr>
      <vt:lpstr>Security- / Integrations-Tests</vt:lpstr>
      <vt:lpstr>Security- / Integrations-Tests</vt:lpstr>
      <vt:lpstr>PowerPoint-Präsentation</vt:lpstr>
      <vt:lpstr>PowerPoint-Präsentation</vt:lpstr>
      <vt:lpstr>Fehlerbehandlung im Backend</vt:lpstr>
      <vt:lpstr>Supply Chain Attacks</vt:lpstr>
      <vt:lpstr>Besonderheiten</vt:lpstr>
      <vt:lpstr>Applikation starten und einrichten</vt:lpstr>
      <vt:lpstr>PowerPoint-Präsentation</vt:lpstr>
      <vt:lpstr>Bild- und Quellverzeichnis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 /0</dc:creator>
  <cp:lastModifiedBy>N /0</cp:lastModifiedBy>
  <cp:revision>2</cp:revision>
  <dcterms:created xsi:type="dcterms:W3CDTF">2026-06-21T11:03:47Z</dcterms:created>
  <dcterms:modified xsi:type="dcterms:W3CDTF">2026-06-29T16:37:26Z</dcterms:modified>
</cp:coreProperties>
</file>